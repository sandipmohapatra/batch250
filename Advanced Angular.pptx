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7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s/slide75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s/slide71.xml" ContentType="application/vnd.openxmlformats-officedocument.presentationml.slide+xml"/>
  <Default Extension="jpeg" ContentType="image/jpeg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7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0" r:id="rId74"/>
    <p:sldId id="331" r:id="rId75"/>
    <p:sldId id="332" r:id="rId76"/>
  </p:sldIdLst>
  <p:sldSz cx="5761038" cy="3240088"/>
  <p:notesSz cx="6858000" cy="9144000"/>
  <p:defaultTextStyle>
    <a:defPPr>
      <a:defRPr lang="en-US"/>
    </a:defPPr>
    <a:lvl1pPr marL="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5717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51435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77152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02870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28587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154305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180022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05740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021">
          <p15:clr>
            <a:srgbClr val="A4A3A4"/>
          </p15:clr>
        </p15:guide>
        <p15:guide id="2" pos="181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213" d="100"/>
          <a:sy n="213" d="100"/>
        </p:scale>
        <p:origin x="-1236" y="-90"/>
      </p:cViewPr>
      <p:guideLst>
        <p:guide orient="horz" pos="1021"/>
        <p:guide pos="181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D81494-3CBA-4CE5-BC78-1C5DCE32E566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E91D89-BA04-44E6-9449-7B77DDB8E4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063318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E91D89-BA04-44E6-9449-7B77DDB8E467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E91D89-BA04-44E6-9449-7B77DDB8E467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101557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336061" y="648018"/>
            <a:ext cx="4946811" cy="864023"/>
          </a:xfrm>
          <a:ln>
            <a:noFill/>
          </a:ln>
        </p:spPr>
        <p:txBody>
          <a:bodyPr vert="horz" tIns="0" rIns="10287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32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336060" y="1525334"/>
            <a:ext cx="4948732" cy="828022"/>
          </a:xfrm>
        </p:spPr>
        <p:txBody>
          <a:bodyPr lIns="0" rIns="10287"/>
          <a:lstStyle>
            <a:lvl1pPr marL="0" marR="25718" indent="0" algn="r">
              <a:buNone/>
              <a:defRPr>
                <a:solidFill>
                  <a:schemeClr val="tx1"/>
                </a:solidFill>
              </a:defRPr>
            </a:lvl1pPr>
            <a:lvl2pPr marL="257175" indent="0" algn="ctr">
              <a:buNone/>
            </a:lvl2pPr>
            <a:lvl3pPr marL="514350" indent="0" algn="ctr">
              <a:buNone/>
            </a:lvl3pPr>
            <a:lvl4pPr marL="771525" indent="0" algn="ctr">
              <a:buNone/>
            </a:lvl4pPr>
            <a:lvl5pPr marL="1028700" indent="0" algn="ctr">
              <a:buNone/>
            </a:lvl5pPr>
            <a:lvl6pPr marL="1285875" indent="0" algn="ctr">
              <a:buNone/>
            </a:lvl6pPr>
            <a:lvl7pPr marL="1543050" indent="0" algn="ctr">
              <a:buNone/>
            </a:lvl7pPr>
            <a:lvl8pPr marL="1800225" indent="0" algn="ctr">
              <a:buNone/>
            </a:lvl8pPr>
            <a:lvl9pPr marL="20574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140" y="622097"/>
            <a:ext cx="4896882" cy="643697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32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140" y="1277829"/>
            <a:ext cx="4896882" cy="713269"/>
          </a:xfrm>
        </p:spPr>
        <p:txBody>
          <a:bodyPr lIns="25718" rIns="25718" anchor="t"/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52" y="332649"/>
            <a:ext cx="5184934" cy="540015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8052" y="907151"/>
            <a:ext cx="2544458" cy="2095257"/>
          </a:xfrm>
        </p:spPr>
        <p:txBody>
          <a:bodyPr/>
          <a:lstStyle>
            <a:lvl1pPr>
              <a:defRPr sz="1500"/>
            </a:lvl1pPr>
            <a:lvl2pPr>
              <a:defRPr sz="14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28528" y="907151"/>
            <a:ext cx="2544458" cy="2095257"/>
          </a:xfrm>
        </p:spPr>
        <p:txBody>
          <a:bodyPr/>
          <a:lstStyle>
            <a:lvl1pPr>
              <a:defRPr sz="1500"/>
            </a:lvl1pPr>
            <a:lvl2pPr>
              <a:defRPr sz="14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52" y="332649"/>
            <a:ext cx="5184934" cy="540015"/>
          </a:xfrm>
        </p:spPr>
        <p:txBody>
          <a:bodyPr tIns="25718"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8052" y="876519"/>
            <a:ext cx="2545459" cy="311513"/>
          </a:xfrm>
        </p:spPr>
        <p:txBody>
          <a:bodyPr lIns="25718" tIns="0" rIns="25718" bIns="0" anchor="ctr">
            <a:noAutofit/>
          </a:bodyPr>
          <a:lstStyle>
            <a:lvl1pPr marL="0" indent="0">
              <a:buNone/>
              <a:defRPr sz="1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1100" b="1"/>
            </a:lvl2pPr>
            <a:lvl3pPr>
              <a:buNone/>
              <a:defRPr sz="1000" b="1"/>
            </a:lvl3pPr>
            <a:lvl4pPr>
              <a:buNone/>
              <a:defRPr sz="900" b="1"/>
            </a:lvl4pPr>
            <a:lvl5pPr>
              <a:buNone/>
              <a:defRPr sz="9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2926528" y="878649"/>
            <a:ext cx="2546459" cy="309383"/>
          </a:xfrm>
        </p:spPr>
        <p:txBody>
          <a:bodyPr lIns="25718" tIns="0" rIns="25718" bIns="0" anchor="ctr"/>
          <a:lstStyle>
            <a:lvl1pPr marL="0" indent="0">
              <a:buNone/>
              <a:defRPr sz="1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1100" b="1"/>
            </a:lvl2pPr>
            <a:lvl3pPr>
              <a:buNone/>
              <a:defRPr sz="1000" b="1"/>
            </a:lvl3pPr>
            <a:lvl4pPr>
              <a:buNone/>
              <a:defRPr sz="900" b="1"/>
            </a:lvl4pPr>
            <a:lvl5pPr>
              <a:buNone/>
              <a:defRPr sz="9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288052" y="1188032"/>
            <a:ext cx="2545459" cy="1816925"/>
          </a:xfrm>
        </p:spPr>
        <p:txBody>
          <a:bodyPr tIns="0"/>
          <a:lstStyle>
            <a:lvl1pPr>
              <a:defRPr sz="12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26528" y="1188032"/>
            <a:ext cx="2546459" cy="1816925"/>
          </a:xfrm>
        </p:spPr>
        <p:txBody>
          <a:bodyPr tIns="0"/>
          <a:lstStyle>
            <a:lvl1pPr>
              <a:defRPr sz="12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52" y="332649"/>
            <a:ext cx="5232943" cy="540015"/>
          </a:xfrm>
        </p:spPr>
        <p:txBody>
          <a:bodyPr vert="horz" tIns="2571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28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78" y="243008"/>
            <a:ext cx="1728311" cy="549015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15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32078" y="792021"/>
            <a:ext cx="1728311" cy="2160059"/>
          </a:xfrm>
        </p:spPr>
        <p:txBody>
          <a:bodyPr lIns="10287" rIns="10287"/>
          <a:lstStyle>
            <a:lvl1pPr marL="0" indent="0" algn="l">
              <a:buNone/>
              <a:defRPr sz="800"/>
            </a:lvl1pPr>
            <a:lvl2pPr indent="0" algn="l">
              <a:buNone/>
              <a:defRPr sz="700"/>
            </a:lvl2pPr>
            <a:lvl3pPr indent="0" algn="l">
              <a:buNone/>
              <a:defRPr sz="600"/>
            </a:lvl3pPr>
            <a:lvl4pPr indent="0" algn="l">
              <a:buNone/>
              <a:defRPr sz="500"/>
            </a:lvl4pPr>
            <a:lvl5pPr indent="0" algn="l">
              <a:buNone/>
              <a:defRPr sz="5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2252406" y="792021"/>
            <a:ext cx="3220580" cy="2160059"/>
          </a:xfrm>
        </p:spPr>
        <p:txBody>
          <a:bodyPr tIns="0"/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100"/>
            </a:lvl4pPr>
            <a:lvl5pPr>
              <a:defRPr sz="10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1994534" y="523515"/>
            <a:ext cx="3312597" cy="1944053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1435" tIns="25718" rIns="51435" bIns="25718"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5042883" y="2532243"/>
            <a:ext cx="97938" cy="73442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1435" tIns="25718" rIns="51435" bIns="25718"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69" y="556077"/>
            <a:ext cx="1394171" cy="747715"/>
          </a:xfrm>
        </p:spPr>
        <p:txBody>
          <a:bodyPr vert="horz" lIns="25718" tIns="25718" rIns="25718" bIns="25718" anchor="b"/>
          <a:lstStyle>
            <a:lvl1pPr algn="l">
              <a:buNone/>
              <a:defRPr sz="11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4069" y="1336470"/>
            <a:ext cx="1392251" cy="1029628"/>
          </a:xfrm>
        </p:spPr>
        <p:txBody>
          <a:bodyPr lIns="36005" rIns="25718" bIns="25718" anchor="t"/>
          <a:lstStyle>
            <a:lvl1pPr marL="0" indent="0" algn="l">
              <a:spcBef>
                <a:spcPts val="141"/>
              </a:spcBef>
              <a:buFontTx/>
              <a:buNone/>
              <a:defRPr sz="700"/>
            </a:lvl1pPr>
            <a:lvl2pPr>
              <a:defRPr sz="700"/>
            </a:lvl2pPr>
            <a:lvl3pPr>
              <a:defRPr sz="600"/>
            </a:lvl3pPr>
            <a:lvl4pPr>
              <a:defRPr sz="500"/>
            </a:lvl4pPr>
            <a:lvl5pPr>
              <a:defRPr sz="5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088917" y="3003082"/>
            <a:ext cx="384069" cy="17250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2196171" y="566717"/>
            <a:ext cx="2909324" cy="185765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10" name="Freeform 9"/>
          <p:cNvSpPr>
            <a:spLocks/>
          </p:cNvSpPr>
          <p:nvPr/>
        </p:nvSpPr>
        <p:spPr bwMode="auto">
          <a:xfrm flipV="1">
            <a:off x="-6001" y="2748075"/>
            <a:ext cx="5773040" cy="492013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1435" tIns="25718" rIns="51435" bIns="25718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>
            <a:spLocks/>
          </p:cNvSpPr>
          <p:nvPr/>
        </p:nvSpPr>
        <p:spPr bwMode="auto">
          <a:xfrm flipV="1">
            <a:off x="2760497" y="2938580"/>
            <a:ext cx="3000541" cy="301508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1435" tIns="25718" rIns="51435" bIns="25718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76752" y="432012"/>
            <a:ext cx="1296234" cy="2462317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8052" y="432012"/>
            <a:ext cx="3792683" cy="2462317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>
            <a:spLocks/>
          </p:cNvSpPr>
          <p:nvPr/>
        </p:nvSpPr>
        <p:spPr bwMode="auto">
          <a:xfrm>
            <a:off x="-6001" y="-3375"/>
            <a:ext cx="5773040" cy="492013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1435" tIns="25718" rIns="51435" bIns="25718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2760497" y="-3375"/>
            <a:ext cx="3000541" cy="301508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1435" tIns="25718" rIns="51435" bIns="25718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288052" y="332649"/>
            <a:ext cx="5184934" cy="540015"/>
          </a:xfrm>
          <a:prstGeom prst="rect">
            <a:avLst/>
          </a:prstGeom>
        </p:spPr>
        <p:txBody>
          <a:bodyPr vert="horz" lIns="0" tIns="25718" rIns="0" bIns="0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288052" y="914425"/>
            <a:ext cx="5184934" cy="2073656"/>
          </a:xfrm>
          <a:prstGeom prst="rect">
            <a:avLst/>
          </a:prstGeom>
        </p:spPr>
        <p:txBody>
          <a:bodyPr vert="horz" lIns="51435" tIns="25718" rIns="51435" bIns="25718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288052" y="3003082"/>
            <a:ext cx="1344242" cy="17250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7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1680303" y="3003082"/>
            <a:ext cx="2112381" cy="17250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7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4992899" y="3003082"/>
            <a:ext cx="480087" cy="17250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7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-11982" y="95629"/>
            <a:ext cx="5784065" cy="306728"/>
            <a:chOff x="-19045" y="216550"/>
            <a:chExt cx="9180548" cy="649224"/>
          </a:xfrm>
        </p:grpSpPr>
        <p:sp>
          <p:nvSpPr>
            <p:cNvPr id="12" name="Freeform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rtl="0" eaLnBrk="1" latinLnBrk="0" hangingPunct="1">
        <a:spcBef>
          <a:spcPct val="0"/>
        </a:spcBef>
        <a:buNone/>
        <a:defRPr kumimoji="0" sz="28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154305" indent="-154305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38875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38875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68655" indent="-118301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118301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977265" indent="-118301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135" indent="-10287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9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234440" indent="-102870" algn="l" rtl="0" eaLnBrk="1" latinLnBrk="0" hangingPunct="1">
        <a:spcBef>
          <a:spcPct val="20000"/>
        </a:spcBef>
        <a:buClr>
          <a:schemeClr val="tx2"/>
        </a:buClr>
        <a:buChar char="•"/>
        <a:defRPr kumimoji="0"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388745" indent="-10287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8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280319" y="991335"/>
            <a:ext cx="3048000" cy="173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dirty="0">
                <a:latin typeface="Algerian" pitchFamily="82" charset="0"/>
              </a:rPr>
              <a:t>Angular </a:t>
            </a:r>
            <a:r>
              <a:rPr lang="en-IN" sz="3200" dirty="0" smtClean="0">
                <a:latin typeface="Algerian" pitchFamily="82" charset="0"/>
              </a:rPr>
              <a:t>Advance</a:t>
            </a:r>
          </a:p>
          <a:p>
            <a:pPr algn="ctr"/>
            <a:endParaRPr lang="en-IN" sz="3200" dirty="0" smtClean="0">
              <a:latin typeface="Algerian" pitchFamily="82" charset="0"/>
            </a:endParaRPr>
          </a:p>
          <a:p>
            <a:pPr algn="ctr"/>
            <a:r>
              <a:rPr lang="en-IN" sz="1100" dirty="0" smtClean="0">
                <a:latin typeface="Algerian" pitchFamily="82" charset="0"/>
              </a:rPr>
              <a:t>By </a:t>
            </a:r>
            <a:r>
              <a:rPr lang="en-IN" sz="1100" dirty="0" err="1" smtClean="0">
                <a:latin typeface="Algerian" pitchFamily="82" charset="0"/>
              </a:rPr>
              <a:t>sandip</a:t>
            </a:r>
            <a:endParaRPr lang="en-IN" sz="1100" dirty="0">
              <a:latin typeface="Algerian" pitchFamily="8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56519" y="140765"/>
            <a:ext cx="236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Life</a:t>
            </a:r>
            <a:r>
              <a:rPr lang="en-US" sz="1800" spc="-3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Cycle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Hooks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7319" y="400844"/>
            <a:ext cx="4648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560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calls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lifecycle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hook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methods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directives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components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creates,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changes,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destroys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them.</a:t>
            </a: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manages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lifecycle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components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directives.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</a:t>
            </a:r>
            <a:r>
              <a:rPr lang="en-US" sz="8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has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same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set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lifecycle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hooks,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minus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hooks that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specific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content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</a:p>
          <a:p>
            <a:pPr marL="355600">
              <a:lnSpc>
                <a:spcPct val="100000"/>
              </a:lnSpc>
            </a:pP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views.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inspects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</a:t>
            </a:r>
            <a:r>
              <a:rPr lang="en-US" sz="8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component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classes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calls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hook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methods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if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they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defined.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1600" dirty="0">
              <a:latin typeface="Conduit ITC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8F989EC9-7A06-4676-818B-40A7296C6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719" y="1391444"/>
            <a:ext cx="1681355" cy="13234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3A3EAF6-F598-4295-8102-5551D51BC353}"/>
              </a:ext>
            </a:extLst>
          </p:cNvPr>
          <p:cNvSpPr txBox="1"/>
          <p:nvPr/>
        </p:nvSpPr>
        <p:spPr>
          <a:xfrm>
            <a:off x="1356519" y="140765"/>
            <a:ext cx="236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Life</a:t>
            </a:r>
            <a:r>
              <a:rPr lang="en-US" sz="1600" spc="-3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600" spc="-15" dirty="0">
                <a:latin typeface="Verdana" panose="020B0604030504040204" pitchFamily="34" charset="0"/>
                <a:ea typeface="Verdana" panose="020B0604030504040204" pitchFamily="34" charset="0"/>
              </a:rPr>
              <a:t>Cycle</a:t>
            </a:r>
            <a:r>
              <a:rPr lang="en-US" sz="1600" spc="-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600" spc="-15" dirty="0">
                <a:latin typeface="Verdana" panose="020B0604030504040204" pitchFamily="34" charset="0"/>
                <a:ea typeface="Verdana" panose="020B0604030504040204" pitchFamily="34" charset="0"/>
              </a:rPr>
              <a:t>Hooks</a:t>
            </a:r>
            <a:endParaRPr lang="en-IN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="" xmlns:a16="http://schemas.microsoft.com/office/drawing/2014/main" id="{04F5878B-DF03-44EA-B442-5A1C94112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9" y="479319"/>
            <a:ext cx="5623719" cy="190272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324543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7B30EF9-7493-4EFC-B3EB-19E2DCBE0417}"/>
              </a:ext>
            </a:extLst>
          </p:cNvPr>
          <p:cNvSpPr txBox="1"/>
          <p:nvPr/>
        </p:nvSpPr>
        <p:spPr>
          <a:xfrm>
            <a:off x="1356519" y="140765"/>
            <a:ext cx="236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spc="-25" dirty="0">
                <a:latin typeface="Verdana" panose="020B0604030504040204" pitchFamily="34" charset="0"/>
                <a:ea typeface="Verdana" panose="020B0604030504040204" pitchFamily="34" charset="0"/>
              </a:rPr>
              <a:t>Life</a:t>
            </a:r>
            <a:r>
              <a:rPr lang="en-US" sz="1600" spc="-3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Cycle</a:t>
            </a:r>
            <a:r>
              <a:rPr lang="en-US" sz="1600" spc="-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600" spc="-15" dirty="0">
                <a:latin typeface="Verdana" panose="020B0604030504040204" pitchFamily="34" charset="0"/>
                <a:ea typeface="Verdana" panose="020B0604030504040204" pitchFamily="34" charset="0"/>
              </a:rPr>
              <a:t>Hooks</a:t>
            </a:r>
            <a:endParaRPr lang="en-IN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00ECFF10-26D5-4D72-81E9-A5994ACFC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42" y="479319"/>
            <a:ext cx="4683753" cy="20574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919555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07EE385F-815B-4F37-B360-B883B470B2A0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Life</a:t>
            </a:r>
            <a:r>
              <a:rPr lang="en-US" sz="1800" spc="-3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Cycle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Hooks- Example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A25582F-CDEF-4F76-A175-2728EFAE7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6" y="546007"/>
            <a:ext cx="5607505" cy="188028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917517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BC44635-2C83-460D-A6A7-0D189DBF6BAA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Dependency Injection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05D528C5-5937-47F8-85AB-7D9B50AE1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52" y="431766"/>
            <a:ext cx="5142533" cy="203574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148210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B5E8842-7C28-4EF6-B024-28938DDBC5B3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Services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7C3FABAC-1F4F-4AB8-A226-1DA0CA5EE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19" y="523261"/>
            <a:ext cx="5486400" cy="189076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169813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298CC21-AB0F-42BA-8F65-8AE96AD7D34C}"/>
              </a:ext>
            </a:extLst>
          </p:cNvPr>
          <p:cNvSpPr txBox="1"/>
          <p:nvPr/>
        </p:nvSpPr>
        <p:spPr>
          <a:xfrm>
            <a:off x="804069" y="96044"/>
            <a:ext cx="415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Steps to create and use Services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2589601-B19F-412B-B873-5528AD40A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0364"/>
            <a:ext cx="5761038" cy="105236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551887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A54F88E-5538-4F6A-94CB-E7BC22AC5A21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Providers Property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1EF5E263-FE9B-446D-B4C1-C21885680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3" y="781844"/>
            <a:ext cx="5614916" cy="122575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769362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853255D-2E2A-4459-BC9F-BA81A4A192A0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log.service.ts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ED6F5E0A-441A-428E-9398-A71FA7362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9" y="781844"/>
            <a:ext cx="5699919" cy="114671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8557548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092027AD-DB5F-47DB-9395-DFBD77762394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uselog.component.ts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BD2C09C-7D2E-46BD-9DE5-DF2B3EFFD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9" y="461336"/>
            <a:ext cx="5623719" cy="194164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050559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DB7C101-37F7-450F-B6F8-D263ABA4987D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Optional Dependency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F91B415-64E9-4214-AF67-8D462765C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9444"/>
            <a:ext cx="5761038" cy="1764268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123734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0ABC796B-AF4B-45FF-9932-863F507B1ABB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Component Interaction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073402D0-C775-4308-AA18-59886CEBE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19" y="1010359"/>
            <a:ext cx="4858428" cy="60968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024008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A299860-542F-4EEC-8536-2EABAB050590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Input Property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4E0D30DF-431F-415F-979D-1B8AEDCD3C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1" y="934244"/>
            <a:ext cx="5761038" cy="85320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245092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C43AA91-370E-44F9-A843-9EE773F2C7B7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@Input()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AEE4F7D6-2892-49AD-A609-07FFC7E28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55" y="561420"/>
            <a:ext cx="5174583" cy="189682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70820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200B6C67-0DB0-477D-856A-364754A95EB1}"/>
              </a:ext>
            </a:extLst>
          </p:cNvPr>
          <p:cNvSpPr txBox="1"/>
          <p:nvPr/>
        </p:nvSpPr>
        <p:spPr>
          <a:xfrm>
            <a:off x="537369" y="96044"/>
            <a:ext cx="4686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Using setter method for input property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4DE10DE7-EFF2-49CF-AE47-55E8A3AD3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59" y="589225"/>
            <a:ext cx="5318919" cy="186686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59694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7E43C4F-5E7F-4E6D-851B-D726FA09DF35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Parent listens to child event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64A2E54-0D5D-405F-A688-2ED333A17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7" y="858044"/>
            <a:ext cx="5649113" cy="57158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756745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74AA0E6-2C8F-4DB0-8775-311D8D4C0906}"/>
              </a:ext>
            </a:extLst>
          </p:cNvPr>
          <p:cNvSpPr txBox="1"/>
          <p:nvPr/>
        </p:nvSpPr>
        <p:spPr>
          <a:xfrm>
            <a:off x="537369" y="96044"/>
            <a:ext cx="4686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Child sending event to parent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EF14E3CF-59B5-48B1-9808-827DCF61F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0844"/>
            <a:ext cx="4766469" cy="209724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241302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F04740ED-0220-40C3-980C-B4E767611280}"/>
              </a:ext>
            </a:extLst>
          </p:cNvPr>
          <p:cNvSpPr txBox="1"/>
          <p:nvPr/>
        </p:nvSpPr>
        <p:spPr>
          <a:xfrm>
            <a:off x="537369" y="82396"/>
            <a:ext cx="4686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Child sending event to parent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9A0C749B-2FC0-4BC9-9CFF-14526B69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17" y="629444"/>
            <a:ext cx="5305804" cy="173136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191478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9110B008-0085-4738-89D0-BD2B159B3D76}"/>
              </a:ext>
            </a:extLst>
          </p:cNvPr>
          <p:cNvSpPr txBox="1"/>
          <p:nvPr/>
        </p:nvSpPr>
        <p:spPr>
          <a:xfrm>
            <a:off x="537369" y="82396"/>
            <a:ext cx="4686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Child sending event to parent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2D37DED1-40AE-45A4-94DC-F8BC2F8B5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39" y="451728"/>
            <a:ext cx="5516960" cy="1970286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944495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1A28E42A-FA3D-4082-9691-CEB03B0398FA}"/>
              </a:ext>
            </a:extLst>
          </p:cNvPr>
          <p:cNvSpPr txBox="1"/>
          <p:nvPr/>
        </p:nvSpPr>
        <p:spPr>
          <a:xfrm>
            <a:off x="537369" y="82396"/>
            <a:ext cx="4686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Child sending event to parent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9F38AE5-4B98-4608-8EBF-2ECCE3871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1844"/>
            <a:ext cx="5761038" cy="100782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898602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80AC7AE-9603-4053-8135-4844ACC2C264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Forms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2A7D1942-50CD-4A7C-B9A8-74C400DFB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832"/>
            <a:ext cx="5761038" cy="16610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490684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374A9AC-602E-423D-A096-9E5496AF9B16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Template Driven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44CE354E-CA9A-4F87-BA8F-D65649440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420"/>
            <a:ext cx="5761038" cy="1791418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71843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218409D-0D64-4EB6-892B-35298A3DFEDD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>
                <a:latin typeface="Verdana" panose="020B0604030504040204" pitchFamily="34" charset="0"/>
                <a:ea typeface="Verdana" panose="020B0604030504040204" pitchFamily="34" charset="0"/>
              </a:rPr>
              <a:t>Example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1FC7F17-5D95-41E5-B5C4-10604D632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5623"/>
            <a:ext cx="5761038" cy="175642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05372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CA7E51C8-E98E-4B7B-B73C-4607E81A62EE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NgForm Properties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B469E4C-B902-428A-8A42-C7CDD1C64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19" y="465376"/>
            <a:ext cx="5166519" cy="193588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00828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B7A45177-9BF0-4613-8F23-30E194793BB0}"/>
              </a:ext>
            </a:extLst>
          </p:cNvPr>
          <p:cNvSpPr txBox="1"/>
          <p:nvPr/>
        </p:nvSpPr>
        <p:spPr>
          <a:xfrm>
            <a:off x="583009" y="96044"/>
            <a:ext cx="4595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Classes associated with FormControl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5371411D-974F-4C5F-873B-4F5F1A4A9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58" y="561420"/>
            <a:ext cx="5547519" cy="181218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2872787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10A569A-F11A-4C32-9F96-07676D233BEC}"/>
              </a:ext>
            </a:extLst>
          </p:cNvPr>
          <p:cNvSpPr txBox="1"/>
          <p:nvPr/>
        </p:nvSpPr>
        <p:spPr>
          <a:xfrm>
            <a:off x="1166019" y="38041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Using CSS 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EACCABB-701F-4113-90C4-39B608C86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19" y="477044"/>
            <a:ext cx="5318919" cy="1802089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93478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2D5BA76-6E49-4D18-BF46-98851F534FEF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Built-in Validators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B52EE9F1-F021-4570-B44F-61498D025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19" y="534124"/>
            <a:ext cx="5395119" cy="190065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418455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CFFEA05-F417-4BE1-9AE6-664BB62E35BA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dirty="0">
                <a:latin typeface="Verdana" panose="020B0604030504040204" pitchFamily="34" charset="0"/>
                <a:ea typeface="Verdana" panose="020B0604030504040204" pitchFamily="34" charset="0"/>
              </a:rPr>
              <a:t>Submitting Form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9A9985A9-6AFD-4203-A512-AF311D3D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5644"/>
            <a:ext cx="5761038" cy="16643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413750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23BF4F5-DB24-47CD-9045-6DA76A17B61D}"/>
              </a:ext>
            </a:extLst>
          </p:cNvPr>
          <p:cNvSpPr txBox="1"/>
          <p:nvPr/>
        </p:nvSpPr>
        <p:spPr>
          <a:xfrm>
            <a:off x="670719" y="96044"/>
            <a:ext cx="458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Forms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(Model</a:t>
            </a:r>
            <a:r>
              <a:rPr lang="en-US" sz="1800" spc="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Driven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Forms)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DE291C5-563B-4848-AC9C-A60A0321C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2216"/>
            <a:ext cx="5761038" cy="124051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203082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ADD23CC-9C7A-4C01-9084-C0727EE3E3C1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 err="1">
                <a:latin typeface="Verdana" panose="020B0604030504040204" pitchFamily="34" charset="0"/>
                <a:ea typeface="Verdana" panose="020B0604030504040204" pitchFamily="34" charset="0"/>
              </a:rPr>
              <a:t>FormControl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AE455911-B48C-4066-BABB-52B6822F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0557"/>
            <a:ext cx="5761038" cy="184691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314127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A8E31F5-DF8C-45CF-ABAB-1FE2F96261F6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55" dirty="0" err="1">
                <a:latin typeface="Verdana" panose="020B0604030504040204" pitchFamily="34" charset="0"/>
                <a:ea typeface="Verdana" panose="020B0604030504040204" pitchFamily="34" charset="0"/>
              </a:rPr>
              <a:t>F</a:t>
            </a:r>
            <a:r>
              <a:rPr lang="en-US" sz="18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ormG</a:t>
            </a:r>
            <a:r>
              <a:rPr lang="en-US" sz="1800" spc="-60" dirty="0" err="1">
                <a:latin typeface="Verdana" panose="020B0604030504040204" pitchFamily="34" charset="0"/>
                <a:ea typeface="Verdana" panose="020B0604030504040204" pitchFamily="34" charset="0"/>
              </a:rPr>
              <a:t>r</a:t>
            </a:r>
            <a:r>
              <a:rPr lang="en-US" sz="18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oup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97B534BB-6AAD-4683-A742-00FCBE8A0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420"/>
            <a:ext cx="5761038" cy="182062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02985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B29ABBF-CD77-4EFD-98DD-32B0AF9DE304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55" dirty="0" err="1">
                <a:latin typeface="Verdana" panose="020B0604030504040204" pitchFamily="34" charset="0"/>
                <a:ea typeface="Verdana" panose="020B0604030504040204" pitchFamily="34" charset="0"/>
              </a:rPr>
              <a:t>F</a:t>
            </a:r>
            <a:r>
              <a:rPr lang="en-US" sz="18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ormG</a:t>
            </a:r>
            <a:r>
              <a:rPr lang="en-US" sz="1800" spc="-60" dirty="0" err="1">
                <a:latin typeface="Verdana" panose="020B0604030504040204" pitchFamily="34" charset="0"/>
                <a:ea typeface="Verdana" panose="020B0604030504040204" pitchFamily="34" charset="0"/>
              </a:rPr>
              <a:t>r</a:t>
            </a:r>
            <a:r>
              <a:rPr lang="en-US" sz="18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oup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E</a:t>
            </a:r>
            <a:r>
              <a:rPr lang="en-US" sz="1800" spc="-75" dirty="0">
                <a:latin typeface="Verdana" panose="020B0604030504040204" pitchFamily="34" charset="0"/>
                <a:ea typeface="Verdana" panose="020B0604030504040204" pitchFamily="34" charset="0"/>
              </a:rPr>
              <a:t>x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ample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7EC3F0E0-6DD2-480E-80F0-157EEB2C4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1844"/>
            <a:ext cx="5761038" cy="93720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091732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5DC7A78-594B-4FE8-B3C8-A94AE1CCDC9D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FormBuilder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5570D3B5-D125-40BE-BAA9-96D3011E1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1067"/>
            <a:ext cx="5761038" cy="177477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36444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BB2AABB-3A0D-4EBC-9EA6-118A9534980E}"/>
              </a:ext>
            </a:extLst>
          </p:cNvPr>
          <p:cNvSpPr txBox="1"/>
          <p:nvPr/>
        </p:nvSpPr>
        <p:spPr>
          <a:xfrm>
            <a:off x="-91281" y="96044"/>
            <a:ext cx="601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Form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60" dirty="0">
                <a:latin typeface="Verdana" panose="020B0604030504040204" pitchFamily="34" charset="0"/>
                <a:ea typeface="Verdana" panose="020B0604030504040204" pitchFamily="34" charset="0"/>
              </a:rPr>
              <a:t>Template</a:t>
            </a:r>
            <a:r>
              <a:rPr lang="en-US" sz="1800" spc="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–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Example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5" dirty="0">
                <a:latin typeface="Verdana" panose="020B0604030504040204" pitchFamily="34" charset="0"/>
                <a:ea typeface="Verdana" panose="020B0604030504040204" pitchFamily="34" charset="0"/>
              </a:rPr>
              <a:t>Page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1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AF004FBC-FA90-4119-80FF-82BB14982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9444"/>
            <a:ext cx="5761038" cy="1612539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530789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F3D7ECB-BD28-4B48-B4E3-E0CF8F37A2A4}"/>
              </a:ext>
            </a:extLst>
          </p:cNvPr>
          <p:cNvSpPr txBox="1"/>
          <p:nvPr/>
        </p:nvSpPr>
        <p:spPr>
          <a:xfrm>
            <a:off x="0" y="74779"/>
            <a:ext cx="5761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Form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60" dirty="0">
                <a:latin typeface="Verdana" panose="020B0604030504040204" pitchFamily="34" charset="0"/>
                <a:ea typeface="Verdana" panose="020B0604030504040204" pitchFamily="34" charset="0"/>
              </a:rPr>
              <a:t>Template</a:t>
            </a:r>
            <a:r>
              <a:rPr lang="en-US" sz="1800" spc="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–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Example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5" dirty="0">
                <a:latin typeface="Verdana" panose="020B0604030504040204" pitchFamily="34" charset="0"/>
                <a:ea typeface="Verdana" panose="020B0604030504040204" pitchFamily="34" charset="0"/>
              </a:rPr>
              <a:t>Page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2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E8AD7ED-0BCE-4653-87E4-CBB1AF710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1844"/>
            <a:ext cx="5761038" cy="145965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00787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FD8753C-AE61-494A-AB36-BCD413BC26AF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Custom</a:t>
            </a:r>
            <a:r>
              <a:rPr lang="en-US" sz="1800" spc="-6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Validation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96A4594B-0C7F-4560-872B-AD57D954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9" y="561420"/>
            <a:ext cx="5562599" cy="186603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241645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8540B73-F397-48E5-A4DE-14A8CE4DF8BD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Cu</a:t>
            </a:r>
            <a:r>
              <a:rPr lang="en-US" sz="1800" spc="-55" dirty="0">
                <a:latin typeface="Verdana" panose="020B0604030504040204" pitchFamily="34" charset="0"/>
                <a:ea typeface="Verdana" panose="020B0604030504040204" pitchFamily="34" charset="0"/>
              </a:rPr>
              <a:t>s</a:t>
            </a:r>
            <a:r>
              <a:rPr lang="en-US" sz="1800" spc="-50" dirty="0">
                <a:latin typeface="Verdana" panose="020B0604030504040204" pitchFamily="34" charset="0"/>
                <a:ea typeface="Verdana" panose="020B0604030504040204" pitchFamily="34" charset="0"/>
              </a:rPr>
              <a:t>t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om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210" dirty="0">
                <a:latin typeface="Verdana" panose="020B0604030504040204" pitchFamily="34" charset="0"/>
                <a:ea typeface="Verdana" panose="020B0604030504040204" pitchFamily="34" charset="0"/>
              </a:rPr>
              <a:t>V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alid</a:t>
            </a:r>
            <a:r>
              <a:rPr lang="en-US" sz="1800" spc="-50" dirty="0">
                <a:latin typeface="Verdana" panose="020B0604030504040204" pitchFamily="34" charset="0"/>
                <a:ea typeface="Verdana" panose="020B0604030504040204" pitchFamily="34" charset="0"/>
              </a:rPr>
              <a:t>a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tion- </a:t>
            </a:r>
            <a:r>
              <a:rPr lang="en-US" sz="1800" spc="-55" dirty="0">
                <a:latin typeface="Verdana" panose="020B0604030504040204" pitchFamily="34" charset="0"/>
                <a:ea typeface="Verdana" panose="020B0604030504040204" pitchFamily="34" charset="0"/>
              </a:rPr>
              <a:t>F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orm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74B45D44-FC7C-4FAF-8D98-096B1A254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125"/>
            <a:ext cx="5761038" cy="175992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481960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733C44C-A719-4951-BA2E-E4E630D0CD09}"/>
              </a:ext>
            </a:extLst>
          </p:cNvPr>
          <p:cNvSpPr txBox="1"/>
          <p:nvPr/>
        </p:nvSpPr>
        <p:spPr>
          <a:xfrm>
            <a:off x="0" y="96044"/>
            <a:ext cx="5755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Making</a:t>
            </a:r>
            <a:r>
              <a:rPr lang="en-US" sz="1800" spc="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Ajax</a:t>
            </a:r>
            <a:r>
              <a:rPr lang="en-US" sz="1800" spc="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calls</a:t>
            </a:r>
            <a:r>
              <a:rPr lang="en-US" sz="1800" spc="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with</a:t>
            </a:r>
            <a:r>
              <a:rPr lang="en-US" sz="1800" spc="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HttpClientModule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520DF3F7-9CAE-495C-80B3-1F1FB58B5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926"/>
            <a:ext cx="5761038" cy="2166918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0637106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1E985D9-DC29-45BF-A462-8EDBE8519A66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Using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Promise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56CDCE46-67B8-412D-86D3-11777D36A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420"/>
            <a:ext cx="5761038" cy="182062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7701902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43E06EA-04F9-481D-9151-1B529B9981C2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Observable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C6CA5A95-B3ED-4285-9C88-B3B2C91C1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4244"/>
            <a:ext cx="5761038" cy="78852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8919059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68BDF98-7B4C-4915-ADC1-6D138808FE1D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Important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80" dirty="0">
                <a:latin typeface="Verdana" panose="020B0604030504040204" pitchFamily="34" charset="0"/>
                <a:ea typeface="Verdana" panose="020B0604030504040204" pitchFamily="34" charset="0"/>
              </a:rPr>
              <a:t>Terms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A513668-C7AC-4FA9-BF52-A38189EBA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" y="858044"/>
            <a:ext cx="5761038" cy="88266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536470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267D6D6-F5C8-4174-9C78-253F25B3B3C3}"/>
              </a:ext>
            </a:extLst>
          </p:cNvPr>
          <p:cNvSpPr txBox="1"/>
          <p:nvPr/>
        </p:nvSpPr>
        <p:spPr>
          <a:xfrm>
            <a:off x="0" y="96044"/>
            <a:ext cx="5761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TimeComponent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-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Displays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running digital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clock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6548D086-9324-4D47-AEF6-A6143C79E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5291"/>
            <a:ext cx="5761038" cy="176675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6391830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1E792D7E-B892-4902-B2E5-C293FBD08393}"/>
              </a:ext>
            </a:extLst>
          </p:cNvPr>
          <p:cNvSpPr txBox="1"/>
          <p:nvPr/>
        </p:nvSpPr>
        <p:spPr>
          <a:xfrm>
            <a:off x="0" y="96044"/>
            <a:ext cx="5755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TimeComponent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-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Displays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running digital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clock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790D0415-324F-4003-A69E-590F0443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7930"/>
            <a:ext cx="5761038" cy="96480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180451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CAE78D81-B789-4529-A6F5-9DB2C4733859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Observable</a:t>
            </a:r>
            <a:r>
              <a:rPr lang="en-US" sz="1800" spc="-6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Operators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6B1F62B1-C2B9-476A-8651-49058DD93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1186"/>
            <a:ext cx="5761038" cy="113771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2587061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1AD3534-104D-40CA-A7D5-BDC783A4E83B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Observable</a:t>
            </a:r>
            <a:r>
              <a:rPr lang="en-US" sz="1800" spc="-6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Operators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9FB7D785-E031-4A86-BF06-BB72B4C1E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5376"/>
            <a:ext cx="5761038" cy="1916668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5257941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FFD0D83-4665-4D22-8217-24DAAC324C78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5" dirty="0" err="1">
                <a:latin typeface="Verdana" panose="020B0604030504040204" pitchFamily="34" charset="0"/>
                <a:ea typeface="Verdana" panose="020B0604030504040204" pitchFamily="34" charset="0"/>
              </a:rPr>
              <a:t>HttpClient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class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4DAAE84A-6188-498B-9C78-1D13FCC2E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5644"/>
            <a:ext cx="5761038" cy="12842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2939299-8F04-45C7-97A7-5CE5C171A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12097"/>
            <a:ext cx="5761038" cy="178979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6359488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CAA0FBD-1FFB-4223-964C-FD9A7D3C38D2}"/>
              </a:ext>
            </a:extLst>
          </p:cNvPr>
          <p:cNvSpPr txBox="1"/>
          <p:nvPr/>
        </p:nvSpPr>
        <p:spPr>
          <a:xfrm>
            <a:off x="1166019" y="96044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HttpClient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 Class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Methods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F802600A-1D45-4DA8-9480-B30E272AB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1844"/>
            <a:ext cx="5761038" cy="117136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1217657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B8E0BA8-7426-4F8E-AE04-3029AD111E9B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Subscribe</a:t>
            </a:r>
            <a:r>
              <a:rPr lang="en-US" sz="1800" spc="-3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Method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AB30C21-BAD9-46E8-A1CB-31A6584F9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4124"/>
            <a:ext cx="5761038" cy="184792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6303528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B45D5F8-4F2C-46D5-B46B-289C6E5273CF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assets/</a:t>
            </a:r>
            <a:r>
              <a:rPr lang="en-US" sz="18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Books.json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81B9CF9-FB41-4F1C-9DE3-C1F8B9FFB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2253"/>
            <a:ext cx="5761038" cy="178979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8559401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FF9CF84-0F42-4178-89A5-C866289C8608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list-</a:t>
            </a:r>
            <a:r>
              <a:rPr lang="en-US" sz="1800" spc="-15" dirty="0" err="1">
                <a:latin typeface="Verdana" panose="020B0604030504040204" pitchFamily="34" charset="0"/>
                <a:ea typeface="Verdana" panose="020B0604030504040204" pitchFamily="34" charset="0"/>
              </a:rPr>
              <a:t>books.component.ts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7E24F2EB-AF12-445D-A8B0-B74C4DD2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4124"/>
            <a:ext cx="5699919" cy="184792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8815395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D4E0DAA-9E81-4E21-B72C-6F4425B53281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list-books.component.html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0288333-1110-48F7-9278-8059E94D4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540" y="705644"/>
            <a:ext cx="3577958" cy="192412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7918693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46566B9-5665-4663-AE8F-3CB259D07AC8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85" dirty="0">
                <a:latin typeface="Verdana" panose="020B0604030504040204" pitchFamily="34" charset="0"/>
                <a:ea typeface="Verdana" panose="020B0604030504040204" pitchFamily="34" charset="0"/>
              </a:rPr>
              <a:t>R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outing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2C2CC8BC-974C-4312-B306-EC349FFE8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965"/>
            <a:ext cx="5761038" cy="762079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7149695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9242374-7AE3-421C-BB86-B0C635C7091A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Routing</a:t>
            </a:r>
            <a:r>
              <a:rPr lang="en-US" sz="1800" spc="-5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Components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E0F7262B-3AFD-48A1-8049-FE3C03D2E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9444"/>
            <a:ext cx="5761038" cy="171697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8175627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D01BA66-7535-43E9-96DD-C8277EC8F0DD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Routing</a:t>
            </a:r>
            <a:r>
              <a:rPr lang="en-US" sz="1800" spc="-5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Components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6DF110F6-69FD-4EA7-8E79-4A8D3952E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9628"/>
            <a:ext cx="5761038" cy="150083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5202056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1BFFD45-86BB-403F-BF69-9D43E3E61227}"/>
              </a:ext>
            </a:extLst>
          </p:cNvPr>
          <p:cNvSpPr txBox="1"/>
          <p:nvPr/>
        </p:nvSpPr>
        <p:spPr>
          <a:xfrm>
            <a:off x="1166019" y="68748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1-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&lt;base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20" dirty="0" err="1">
                <a:latin typeface="Verdana" panose="020B0604030504040204" pitchFamily="34" charset="0"/>
                <a:ea typeface="Verdana" panose="020B0604030504040204" pitchFamily="34" charset="0"/>
              </a:rPr>
              <a:t>href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&gt;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0B191E1D-D951-408E-B2C3-3DA7C5F73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7" y="1010359"/>
            <a:ext cx="4820323" cy="121937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0334219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292F98B-337C-4FB4-9609-FBA7F2E43D66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2-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Import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Router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955BE443-7892-4E04-8451-44700D7A9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7971"/>
            <a:ext cx="5761038" cy="138414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0519024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D09A384-FD53-4FB6-BDBE-A5DEAD4D6FE7}"/>
              </a:ext>
            </a:extLst>
          </p:cNvPr>
          <p:cNvSpPr txBox="1"/>
          <p:nvPr/>
        </p:nvSpPr>
        <p:spPr>
          <a:xfrm>
            <a:off x="1051719" y="96044"/>
            <a:ext cx="4000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3-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Route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Configuration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09191C2-9751-4F90-89AB-E2EAAED6A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420"/>
            <a:ext cx="5761038" cy="174442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26232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A5D5083-03BC-4003-8D95-75A734DE2535}"/>
              </a:ext>
            </a:extLst>
          </p:cNvPr>
          <p:cNvSpPr txBox="1"/>
          <p:nvPr/>
        </p:nvSpPr>
        <p:spPr>
          <a:xfrm>
            <a:off x="1051719" y="96044"/>
            <a:ext cx="392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3-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Route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Configuration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DA10A53-6AA5-4015-B193-E0F5EC64D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5644"/>
            <a:ext cx="5761038" cy="167848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1995829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B1EC3A1-5A54-4677-8B4F-93C2259452CA}"/>
              </a:ext>
            </a:extLst>
          </p:cNvPr>
          <p:cNvSpPr txBox="1"/>
          <p:nvPr/>
        </p:nvSpPr>
        <p:spPr>
          <a:xfrm>
            <a:off x="1051719" y="96044"/>
            <a:ext cx="377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3-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Route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Configuration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1FB81F3-9E75-450D-B7FC-EF1A7720A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4244"/>
            <a:ext cx="5761038" cy="80243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1230114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80704A7-613E-4D01-9F29-8F1753FCFB42}"/>
              </a:ext>
            </a:extLst>
          </p:cNvPr>
          <p:cNvSpPr txBox="1"/>
          <p:nvPr/>
        </p:nvSpPr>
        <p:spPr>
          <a:xfrm>
            <a:off x="975519" y="96044"/>
            <a:ext cx="415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4-</a:t>
            </a:r>
            <a:r>
              <a:rPr lang="en-US" sz="1800" spc="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Place	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&lt;router-outlet&gt;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1C62DD22-B5A2-4552-B4E5-A047E4345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619" y="934244"/>
            <a:ext cx="5761038" cy="1157688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73011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2C61B14-2DEB-42C3-A262-CE24FB8E74DB}"/>
              </a:ext>
            </a:extLst>
          </p:cNvPr>
          <p:cNvSpPr txBox="1"/>
          <p:nvPr/>
        </p:nvSpPr>
        <p:spPr>
          <a:xfrm>
            <a:off x="823119" y="96044"/>
            <a:ext cx="422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5-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Use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20" dirty="0" err="1">
                <a:latin typeface="Verdana" panose="020B0604030504040204" pitchFamily="34" charset="0"/>
                <a:ea typeface="Verdana" panose="020B0604030504040204" pitchFamily="34" charset="0"/>
              </a:rPr>
              <a:t>RouterLink</a:t>
            </a:r>
            <a:r>
              <a:rPr lang="en-US" sz="1800" spc="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6BD5322-3A17-4BB9-B321-A9629405B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0" y="705644"/>
            <a:ext cx="5761038" cy="1644976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8611970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071194E3-2E60-4976-9574-F4AC819B04EC}"/>
              </a:ext>
            </a:extLst>
          </p:cNvPr>
          <p:cNvSpPr txBox="1"/>
          <p:nvPr/>
        </p:nvSpPr>
        <p:spPr>
          <a:xfrm>
            <a:off x="1051719" y="96044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5- Use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Router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5" dirty="0">
                <a:latin typeface="Verdana" panose="020B0604030504040204" pitchFamily="34" charset="0"/>
                <a:ea typeface="Verdana" panose="020B0604030504040204" pitchFamily="34" charset="0"/>
              </a:rPr>
              <a:t>Parameters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5118D95D-9C0E-4212-8D59-29286766E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619" y="705644"/>
            <a:ext cx="5761038" cy="163229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6640435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7BE2250-E48D-4072-A370-3C82C7419B34}"/>
              </a:ext>
            </a:extLst>
          </p:cNvPr>
          <p:cNvSpPr txBox="1"/>
          <p:nvPr/>
        </p:nvSpPr>
        <p:spPr>
          <a:xfrm>
            <a:off x="823119" y="96044"/>
            <a:ext cx="422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5- 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Read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Router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5" dirty="0">
                <a:latin typeface="Verdana" panose="020B0604030504040204" pitchFamily="34" charset="0"/>
                <a:ea typeface="Verdana" panose="020B0604030504040204" pitchFamily="34" charset="0"/>
              </a:rPr>
              <a:t>Parameters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127C83BB-4D6A-474F-9AFF-041479A79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420"/>
            <a:ext cx="5761038" cy="182062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8436370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1913BED-8ABF-4537-854D-6FA0B2DAB128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Programmatic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Navigation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44BF16D0-D1D3-4BE4-B185-A43E3EA4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9930"/>
            <a:ext cx="5761038" cy="154022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5342877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CFC2D94C-3FF1-4BBE-8F54-CA9EB24A1A7B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Route</a:t>
            </a:r>
            <a:r>
              <a:rPr lang="en-US" sz="1800" spc="-7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Guard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10D490DD-B3B8-4F00-8794-10BB9D6EE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8044"/>
            <a:ext cx="5761038" cy="121712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8255299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1E1B9F4-1C1A-441F-BDD0-F282E60AD517}"/>
              </a:ext>
            </a:extLst>
          </p:cNvPr>
          <p:cNvSpPr txBox="1"/>
          <p:nvPr/>
        </p:nvSpPr>
        <p:spPr>
          <a:xfrm>
            <a:off x="1166019" y="82396"/>
            <a:ext cx="369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1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–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Create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Route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Guard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F43F6AC0-2133-4E19-B5C1-51A3DA80C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0792"/>
            <a:ext cx="5761038" cy="177791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962190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DDAC258-5316-469B-812C-DF404C270D75}"/>
              </a:ext>
            </a:extLst>
          </p:cNvPr>
          <p:cNvSpPr txBox="1"/>
          <p:nvPr/>
        </p:nvSpPr>
        <p:spPr>
          <a:xfrm>
            <a:off x="746919" y="82396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2 –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Associate</a:t>
            </a:r>
            <a:r>
              <a:rPr lang="en-US" sz="1800" spc="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Guard</a:t>
            </a:r>
            <a:r>
              <a:rPr lang="en-US" sz="1800" spc="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with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Route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2085AF16-8ABD-4F35-93B6-44E462DFC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619" y="934244"/>
            <a:ext cx="5761038" cy="101795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76830999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EA64942-27FA-4E4F-A325-3AF7B11C8BBA}"/>
              </a:ext>
            </a:extLst>
          </p:cNvPr>
          <p:cNvSpPr txBox="1"/>
          <p:nvPr/>
        </p:nvSpPr>
        <p:spPr>
          <a:xfrm>
            <a:off x="61119" y="82396"/>
            <a:ext cx="569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Step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3 –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 Declare 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Route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Guard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in</a:t>
            </a:r>
            <a:r>
              <a:rPr lang="en-US" sz="1800" spc="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5" dirty="0">
                <a:latin typeface="Verdana" panose="020B0604030504040204" pitchFamily="34" charset="0"/>
                <a:ea typeface="Verdana" panose="020B0604030504040204" pitchFamily="34" charset="0"/>
              </a:rPr>
              <a:t>Providers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Array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27A34FB-0B09-428F-93A3-6D0912288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9444"/>
            <a:ext cx="5761038" cy="167376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77738329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92D15F6-95B7-4EDA-B434-23EF93BFFD9A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Depl</a:t>
            </a:r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o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yme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n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t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3D874C48-A0D2-4AF9-951F-F90BCECB5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19" y="1016555"/>
            <a:ext cx="5258534" cy="60968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626395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C15839F-7BFD-47B0-B90A-CFD06CE2A773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355" dirty="0">
                <a:latin typeface="Verdana" panose="020B0604030504040204" pitchFamily="34" charset="0"/>
                <a:ea typeface="Verdana" panose="020B0604030504040204" pitchFamily="34" charset="0"/>
              </a:rPr>
              <a:t>T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ools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92EE5FD1-122D-43F6-942F-7D045FA26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7987"/>
            <a:ext cx="5761038" cy="158785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8050828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242ACF4-EDD1-4BCC-BDBE-5AC33E52DC84}"/>
              </a:ext>
            </a:extLst>
          </p:cNvPr>
          <p:cNvSpPr txBox="1"/>
          <p:nvPr/>
        </p:nvSpPr>
        <p:spPr>
          <a:xfrm>
            <a:off x="804069" y="96044"/>
            <a:ext cx="4152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Ahead-of-Time</a:t>
            </a:r>
            <a:r>
              <a:rPr lang="en-US" sz="1800" spc="-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30" dirty="0">
                <a:latin typeface="Verdana" panose="020B0604030504040204" pitchFamily="34" charset="0"/>
                <a:ea typeface="Verdana" panose="020B0604030504040204" pitchFamily="34" charset="0"/>
              </a:rPr>
              <a:t>(AOT)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compilation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EEF9641B-DC69-4504-B47C-8F001B559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7568"/>
            <a:ext cx="5761038" cy="105516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0034361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A112CDE-189F-4A70-9ED9-67167E400474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Build</a:t>
            </a:r>
            <a:r>
              <a:rPr lang="en-US" sz="1800" spc="-7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Project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6DD1BC2-CF63-4569-9581-50F98C299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9444"/>
            <a:ext cx="5761038" cy="177172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5769944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913B334-DEB2-4466-BD61-28B348EAC05A}"/>
              </a:ext>
            </a:extLst>
          </p:cNvPr>
          <p:cNvSpPr txBox="1"/>
          <p:nvPr/>
        </p:nvSpPr>
        <p:spPr>
          <a:xfrm>
            <a:off x="1166019" y="82396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25" dirty="0">
                <a:latin typeface="Verdana" panose="020B0604030504040204" pitchFamily="34" charset="0"/>
                <a:ea typeface="Verdana" panose="020B0604030504040204" pitchFamily="34" charset="0"/>
              </a:rPr>
              <a:t>Tree-shaking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070E599F-7999-4AD0-8B6A-A43D5DD58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7564"/>
            <a:ext cx="5761038" cy="167828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676678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0A3D500-E03C-4A88-83D3-26D3312DA0C9}"/>
              </a:ext>
            </a:extLst>
          </p:cNvPr>
          <p:cNvSpPr txBox="1"/>
          <p:nvPr/>
        </p:nvSpPr>
        <p:spPr>
          <a:xfrm>
            <a:off x="1166019" y="82396"/>
            <a:ext cx="369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Dead code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10" dirty="0">
                <a:latin typeface="Verdana" panose="020B0604030504040204" pitchFamily="34" charset="0"/>
                <a:ea typeface="Verdana" panose="020B0604030504040204" pitchFamily="34" charset="0"/>
              </a:rPr>
              <a:t>elimination</a:t>
            </a:r>
            <a:r>
              <a:rPr lang="en-US" sz="18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spc="-5" dirty="0">
                <a:latin typeface="Verdana" panose="020B0604030504040204" pitchFamily="34" charset="0"/>
                <a:ea typeface="Verdana" panose="020B0604030504040204" pitchFamily="34" charset="0"/>
              </a:rPr>
              <a:t>(DCE)</a:t>
            </a:r>
            <a:endParaRPr lang="en-IN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36481A59-A139-498B-B982-1CDBF3A4F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5644"/>
            <a:ext cx="5761038" cy="1676349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7725995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216</TotalTime>
  <Words>313</Words>
  <Application>Microsoft Office PowerPoint</Application>
  <PresentationFormat>Custom</PresentationFormat>
  <Paragraphs>84</Paragraphs>
  <Slides>75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6" baseType="lpstr">
      <vt:lpstr>Flow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Amit</dc:creator>
  <cp:lastModifiedBy>Simon Mohapatra</cp:lastModifiedBy>
  <cp:revision>32</cp:revision>
  <dcterms:created xsi:type="dcterms:W3CDTF">2006-08-16T00:00:00Z</dcterms:created>
  <dcterms:modified xsi:type="dcterms:W3CDTF">2025-04-25T05:15:44Z</dcterms:modified>
</cp:coreProperties>
</file>
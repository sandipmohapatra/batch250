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8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0" r:id="rId40"/>
    <p:sldId id="301" r:id="rId41"/>
    <p:sldId id="302" r:id="rId42"/>
    <p:sldId id="299" r:id="rId43"/>
    <p:sldId id="303" r:id="rId44"/>
    <p:sldId id="304" r:id="rId45"/>
  </p:sldIdLst>
  <p:sldSz cx="5761038" cy="3240088"/>
  <p:notesSz cx="6858000" cy="9144000"/>
  <p:defaultTextStyle>
    <a:defPPr>
      <a:defRPr lang="en-US"/>
    </a:defPPr>
    <a:lvl1pPr marL="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717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1435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7152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02870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8587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54305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800225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057400" algn="l" defTabSz="51435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">
          <p15:clr>
            <a:srgbClr val="A4A3A4"/>
          </p15:clr>
        </p15:guide>
        <p15:guide id="2" pos="17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1956" y="732"/>
      </p:cViewPr>
      <p:guideLst>
        <p:guide orient="horz" pos="1020"/>
        <p:guide pos="17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262" y="1143000"/>
            <a:ext cx="5487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078" y="1006528"/>
            <a:ext cx="4896882" cy="694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4156" y="1836050"/>
            <a:ext cx="4032727" cy="8280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2" y="2082057"/>
            <a:ext cx="4896882" cy="643517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082" y="1373288"/>
            <a:ext cx="4896882" cy="708769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8052" y="756021"/>
            <a:ext cx="2544458" cy="213830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8528" y="756021"/>
            <a:ext cx="2544458" cy="213830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52" y="725270"/>
            <a:ext cx="2545459" cy="30225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52" y="1027528"/>
            <a:ext cx="2545459" cy="1866801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26528" y="725270"/>
            <a:ext cx="2546459" cy="30225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26528" y="1027528"/>
            <a:ext cx="2546459" cy="1866801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52" y="129003"/>
            <a:ext cx="1895342" cy="549015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406" y="129004"/>
            <a:ext cx="3220580" cy="27653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8052" y="678019"/>
            <a:ext cx="1895342" cy="2216310"/>
          </a:xfrm>
        </p:spPr>
        <p:txBody>
          <a:bodyPr/>
          <a:lstStyle>
            <a:lvl1pPr marL="0" indent="0">
              <a:buNone/>
              <a:defRPr sz="800"/>
            </a:lvl1pPr>
            <a:lvl2pPr marL="257175" indent="0">
              <a:buNone/>
              <a:defRPr sz="700"/>
            </a:lvl2pPr>
            <a:lvl3pPr marL="514350" indent="0">
              <a:buNone/>
              <a:defRPr sz="600"/>
            </a:lvl3pPr>
            <a:lvl4pPr marL="771525" indent="0">
              <a:buNone/>
              <a:defRPr sz="500"/>
            </a:lvl4pPr>
            <a:lvl5pPr marL="1028700" indent="0">
              <a:buNone/>
              <a:defRPr sz="500"/>
            </a:lvl5pPr>
            <a:lvl6pPr marL="1285875" indent="0">
              <a:buNone/>
              <a:defRPr sz="500"/>
            </a:lvl6pPr>
            <a:lvl7pPr marL="1543050" indent="0">
              <a:buNone/>
              <a:defRPr sz="500"/>
            </a:lvl7pPr>
            <a:lvl8pPr marL="1800225" indent="0">
              <a:buNone/>
              <a:defRPr sz="500"/>
            </a:lvl8pPr>
            <a:lvl9pPr marL="20574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204" y="2268061"/>
            <a:ext cx="3456623" cy="267758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29204" y="289508"/>
            <a:ext cx="3456623" cy="1944053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9204" y="2535819"/>
            <a:ext cx="3456623" cy="380260"/>
          </a:xfrm>
        </p:spPr>
        <p:txBody>
          <a:bodyPr/>
          <a:lstStyle>
            <a:lvl1pPr marL="0" indent="0">
              <a:buNone/>
              <a:defRPr sz="800"/>
            </a:lvl1pPr>
            <a:lvl2pPr marL="257175" indent="0">
              <a:buNone/>
              <a:defRPr sz="700"/>
            </a:lvl2pPr>
            <a:lvl3pPr marL="514350" indent="0">
              <a:buNone/>
              <a:defRPr sz="600"/>
            </a:lvl3pPr>
            <a:lvl4pPr marL="771525" indent="0">
              <a:buNone/>
              <a:defRPr sz="500"/>
            </a:lvl4pPr>
            <a:lvl5pPr marL="1028700" indent="0">
              <a:buNone/>
              <a:defRPr sz="500"/>
            </a:lvl5pPr>
            <a:lvl6pPr marL="1285875" indent="0">
              <a:buNone/>
              <a:defRPr sz="500"/>
            </a:lvl6pPr>
            <a:lvl7pPr marL="1543050" indent="0">
              <a:buNone/>
              <a:defRPr sz="500"/>
            </a:lvl7pPr>
            <a:lvl8pPr marL="1800225" indent="0">
              <a:buNone/>
              <a:defRPr sz="500"/>
            </a:lvl8pPr>
            <a:lvl9pPr marL="20574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76752" y="129754"/>
            <a:ext cx="1296234" cy="2764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8052" y="129754"/>
            <a:ext cx="3792683" cy="2764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52" y="129754"/>
            <a:ext cx="5184934" cy="540015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52" y="756021"/>
            <a:ext cx="5184934" cy="2138308"/>
          </a:xfrm>
          <a:prstGeom prst="rect">
            <a:avLst/>
          </a:prstGeom>
        </p:spPr>
        <p:txBody>
          <a:bodyPr vert="horz" lIns="51435" tIns="25718" rIns="51435" bIns="2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8052" y="3003082"/>
            <a:ext cx="1344242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355" y="3003082"/>
            <a:ext cx="1824329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28744" y="3003082"/>
            <a:ext cx="1344242" cy="172505"/>
          </a:xfrm>
          <a:prstGeom prst="rect">
            <a:avLst/>
          </a:prstGeom>
        </p:spPr>
        <p:txBody>
          <a:bodyPr vert="horz" lIns="51435" tIns="25718" rIns="51435" bIns="25718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350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040" indent="-193040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830" indent="-160655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" y="0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6760" y="934085"/>
            <a:ext cx="43268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ANGULAR DETAILS</a:t>
            </a:r>
            <a:endParaRPr lang="en-US" sz="2000" b="1" u="sng" dirty="0">
              <a:solidFill>
                <a:srgbClr val="FF0000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algn="ctr"/>
            <a:r>
              <a:rPr lang="en-US" sz="2000" b="1" u="sng" dirty="0">
                <a:solidFill>
                  <a:srgbClr val="FF000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INTRODUCTION AND BASICS</a:t>
            </a:r>
            <a:endParaRPr lang="en-US" sz="2000" b="1" u="sng" dirty="0">
              <a:solidFill>
                <a:srgbClr val="FF0000"/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algn="ctr"/>
            <a:endParaRPr lang="en-US" sz="2000" b="1" u="sng" dirty="0">
              <a:solidFill>
                <a:srgbClr val="FF0000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" y="0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2045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What</a:t>
            </a:r>
            <a:r>
              <a:rPr sz="1600" spc="-5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1600" spc="-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Angular?</a:t>
            </a:r>
            <a:endParaRPr sz="1600" dirty="0">
              <a:latin typeface="Verdana" panose="020B0604030504040204" charset="0"/>
              <a:cs typeface="Verdana" panose="020B0604030504040204" charset="0"/>
            </a:endParaRPr>
          </a:p>
          <a:p>
            <a:pPr algn="ctr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7650" y="476885"/>
            <a:ext cx="5234305" cy="218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44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 a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JavaScript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framework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build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more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interactive</a:t>
            </a:r>
            <a:r>
              <a:rPr sz="8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web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applications.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designed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both 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Web,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Desktop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 Mobile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platforms.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next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version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of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most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successful</a:t>
            </a:r>
            <a:r>
              <a:rPr sz="8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AngularJS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1.x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,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which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released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 2010.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completely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rewritten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from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scratch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TypeScript,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which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superset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of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JavaScript.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finally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released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on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5" dirty="0">
                <a:latin typeface="Verdana" panose="020B0604030504040204" charset="0"/>
                <a:cs typeface="Verdana" panose="020B0604030504040204" charset="0"/>
                <a:sym typeface="+mn-ea"/>
              </a:rPr>
              <a:t>14</a:t>
            </a:r>
            <a:r>
              <a:rPr sz="800" b="1" spc="7" baseline="26000" dirty="0">
                <a:latin typeface="Verdana" panose="020B0604030504040204" charset="0"/>
                <a:cs typeface="Verdana" panose="020B0604030504040204" charset="0"/>
                <a:sym typeface="+mn-ea"/>
              </a:rPr>
              <a:t>th</a:t>
            </a:r>
            <a:r>
              <a:rPr sz="800" b="1" spc="209" baseline="260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Sep,</a:t>
            </a:r>
            <a:r>
              <a:rPr sz="800" b="1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2016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.</a:t>
            </a:r>
            <a:r>
              <a:rPr sz="800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called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Angular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4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released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March,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2017</a:t>
            </a:r>
            <a:r>
              <a:rPr sz="800" b="1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there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no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3.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5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released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Nov,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2017.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6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released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May,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2018.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7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released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Oct,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2018.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8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released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45" dirty="0">
                <a:latin typeface="Verdana" panose="020B0604030504040204" charset="0"/>
                <a:cs typeface="Verdana" panose="020B0604030504040204" charset="0"/>
                <a:sym typeface="+mn-ea"/>
              </a:rPr>
              <a:t>May,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2019.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b="1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9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was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released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Feb,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dirty="0">
                <a:latin typeface="Verdana" panose="020B0604030504040204" charset="0"/>
                <a:cs typeface="Verdana" panose="020B0604030504040204" charset="0"/>
                <a:sym typeface="+mn-ea"/>
              </a:rPr>
              <a:t>2020.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has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been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optimized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developer</a:t>
            </a:r>
            <a:r>
              <a:rPr sz="8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productivity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,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small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payload</a:t>
            </a:r>
            <a:r>
              <a:rPr sz="800" b="1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size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,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performance.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Developed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using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TypeScript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,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which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Microsoft’s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extension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of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JavaScript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that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allows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use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of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all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ES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2015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>
              <a:lnSpc>
                <a:spcPct val="100000"/>
              </a:lnSpc>
            </a:pP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(ECMAScript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6)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features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adds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type checking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object-oriented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features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like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interfaces.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24485" indent="-287020">
              <a:lnSpc>
                <a:spcPct val="100000"/>
              </a:lnSpc>
              <a:buFont typeface="Wingdings" panose="05000000000000000000"/>
              <a:buChar char=""/>
              <a:tabLst>
                <a:tab pos="325120" algn="l"/>
              </a:tabLst>
            </a:pPr>
            <a:r>
              <a:rPr sz="800" spc="-50" dirty="0">
                <a:latin typeface="Verdana" panose="020B0604030504040204" charset="0"/>
                <a:cs typeface="Verdana" panose="020B0604030504040204" charset="0"/>
                <a:sym typeface="+mn-ea"/>
              </a:rPr>
              <a:t>You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can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write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code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either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JavaScript</a:t>
            </a:r>
            <a:r>
              <a:rPr sz="800" b="1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TypeScript</a:t>
            </a:r>
            <a:r>
              <a:rPr sz="8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Dart.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800" dirty="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Setting</a:t>
            </a:r>
            <a:r>
              <a:rPr sz="16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Up</a:t>
            </a:r>
            <a:r>
              <a:rPr sz="16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Development</a:t>
            </a:r>
            <a:r>
              <a:rPr sz="16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Environment</a:t>
            </a:r>
            <a:endParaRPr sz="1600" spc="-2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5485"/>
            <a:ext cx="523430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Install</a:t>
            </a:r>
            <a:r>
              <a:rPr sz="12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b="1" dirty="0">
                <a:latin typeface="Verdana" panose="020B0604030504040204" charset="0"/>
                <a:cs typeface="Verdana" panose="020B0604030504040204" charset="0"/>
                <a:sym typeface="+mn-ea"/>
              </a:rPr>
              <a:t>Node.js</a:t>
            </a:r>
            <a:r>
              <a:rPr sz="1200" b="1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12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b="1" dirty="0"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Install</a:t>
            </a:r>
            <a:r>
              <a:rPr sz="12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1200" b="1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Install </a:t>
            </a:r>
            <a:r>
              <a:rPr sz="1200" b="1" dirty="0">
                <a:latin typeface="Verdana" panose="020B0604030504040204" charset="0"/>
                <a:cs typeface="Verdana" panose="020B0604030504040204" charset="0"/>
                <a:sym typeface="+mn-ea"/>
              </a:rPr>
              <a:t>Visual</a:t>
            </a:r>
            <a:r>
              <a:rPr sz="1200" b="1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b="1" dirty="0">
                <a:latin typeface="Verdana" panose="020B0604030504040204" charset="0"/>
                <a:cs typeface="Verdana" panose="020B0604030504040204" charset="0"/>
                <a:sym typeface="+mn-ea"/>
              </a:rPr>
              <a:t>Studio</a:t>
            </a:r>
            <a:r>
              <a:rPr sz="12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Code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</a:t>
            </a:r>
            <a:r>
              <a:rPr sz="12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Similar</a:t>
            </a:r>
            <a:r>
              <a:rPr sz="12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IDE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Create</a:t>
            </a:r>
            <a:r>
              <a:rPr sz="12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a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new</a:t>
            </a:r>
            <a:r>
              <a:rPr sz="12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project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using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12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Open</a:t>
            </a:r>
            <a:r>
              <a:rPr sz="12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project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folder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1200" spc="44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Visual Studio</a:t>
            </a:r>
            <a:r>
              <a:rPr sz="12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Code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Start</a:t>
            </a:r>
            <a:r>
              <a:rPr sz="12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server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using</a:t>
            </a:r>
            <a:r>
              <a:rPr sz="12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NodeJS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1200" dirty="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Installing</a:t>
            </a:r>
            <a:r>
              <a:rPr sz="16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Node.JS</a:t>
            </a:r>
            <a:r>
              <a:rPr sz="16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endParaRPr sz="1600" spc="-5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574040"/>
            <a:ext cx="523430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Node.js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used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run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JavaScript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on server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provide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environment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build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tools.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used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to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manage packages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related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JavaScript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libraries.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itself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 Node</a:t>
            </a:r>
            <a:r>
              <a:rPr sz="8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spc="-9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install,</a:t>
            </a:r>
            <a:r>
              <a:rPr sz="800" spc="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go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10" dirty="0">
                <a:solidFill>
                  <a:srgbClr val="0462C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 panose="020B0604030504040204" charset="0"/>
                <a:cs typeface="Verdana" panose="020B0604030504040204" charset="0"/>
                <a:sym typeface="+mn-ea"/>
                <a:hlinkClick r:id="rId3"/>
              </a:rPr>
              <a:t>https://nodejs.org/en/download</a:t>
            </a:r>
            <a:r>
              <a:rPr sz="800" spc="-40" dirty="0">
                <a:solidFill>
                  <a:srgbClr val="0462C1"/>
                </a:solidFill>
                <a:latin typeface="Verdana" panose="020B0604030504040204" charset="0"/>
                <a:cs typeface="Verdana" panose="020B0604030504040204" charset="0"/>
                <a:sym typeface="+mn-ea"/>
                <a:hlinkClick r:id="rId3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 download</a:t>
            </a:r>
            <a:r>
              <a:rPr sz="8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installer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(.msi)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32-bit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64-bit.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Run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.MSI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file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install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Node.js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into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your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system.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typically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installed</a:t>
            </a:r>
            <a:r>
              <a:rPr sz="800" spc="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into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c:\Program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Files\nodejs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folder.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installs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Node.js</a:t>
            </a:r>
            <a:r>
              <a:rPr sz="800" spc="-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NPM.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also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sets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system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path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include Node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NPM.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3535">
              <a:lnSpc>
                <a:spcPct val="100000"/>
              </a:lnSpc>
              <a:buFont typeface="Wingdings" panose="05000000000000000000"/>
              <a:buChar char=""/>
              <a:tabLst>
                <a:tab pos="356235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Go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to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command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prompt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and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check their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versions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using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following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commands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console.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8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4361688" y="4431791"/>
            <a:ext cx="3469004" cy="1148080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690"/>
              </a:spcBef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0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node</a:t>
            </a:r>
            <a:r>
              <a:rPr sz="20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–v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Courier New" panose="02070309020205020404"/>
              <a:cs typeface="Courier New" panose="02070309020205020404"/>
            </a:endParaRPr>
          </a:p>
          <a:p>
            <a:pPr marL="1123950">
              <a:lnSpc>
                <a:spcPct val="100000"/>
              </a:lnSpc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npm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-v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4488688" y="4558791"/>
            <a:ext cx="3469004" cy="1014095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690"/>
              </a:spcBef>
            </a:pPr>
            <a:r>
              <a:rPr sz="2000" b="1" dirty="0">
                <a:latin typeface="Courier New" panose="02070309020205020404"/>
                <a:cs typeface="Courier New" panose="02070309020205020404"/>
                <a:sym typeface="+mn-ea"/>
              </a:rPr>
              <a:t>&gt;</a:t>
            </a:r>
            <a:r>
              <a:rPr sz="2000" b="1" spc="-45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  <a:sym typeface="+mn-ea"/>
              </a:rPr>
              <a:t>node</a:t>
            </a:r>
            <a:r>
              <a:rPr sz="2000" b="1" spc="-40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  <a:sym typeface="+mn-ea"/>
              </a:rPr>
              <a:t>–v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123950">
              <a:lnSpc>
                <a:spcPct val="100000"/>
              </a:lnSpc>
            </a:pPr>
            <a:r>
              <a:rPr sz="2000" b="1" dirty="0">
                <a:latin typeface="Courier New" panose="02070309020205020404"/>
                <a:cs typeface="Courier New" panose="02070309020205020404"/>
                <a:sym typeface="+mn-ea"/>
              </a:rPr>
              <a:t>&gt;</a:t>
            </a:r>
            <a:r>
              <a:rPr sz="2000" b="1" spc="-35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npm</a:t>
            </a:r>
            <a:r>
              <a:rPr sz="2000" b="1" spc="-35" dirty="0">
                <a:latin typeface="Courier New" panose="02070309020205020404"/>
                <a:cs typeface="Courier New" panose="02070309020205020404"/>
                <a:sym typeface="+mn-ea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  <a:sym typeface="+mn-ea"/>
              </a:rPr>
              <a:t>-v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4488688" y="4558791"/>
            <a:ext cx="3469004" cy="1148080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690"/>
              </a:spcBef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0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node</a:t>
            </a:r>
            <a:r>
              <a:rPr sz="20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–v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Courier New" panose="02070309020205020404"/>
              <a:cs typeface="Courier New" panose="02070309020205020404"/>
            </a:endParaRPr>
          </a:p>
          <a:p>
            <a:pPr marL="1123950">
              <a:lnSpc>
                <a:spcPct val="100000"/>
              </a:lnSpc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npm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-v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4615688" y="4685791"/>
            <a:ext cx="3469004" cy="1148080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690"/>
              </a:spcBef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0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node</a:t>
            </a:r>
            <a:r>
              <a:rPr sz="20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dirty="0">
                <a:latin typeface="Courier New" panose="02070309020205020404"/>
                <a:cs typeface="Courier New" panose="02070309020205020404"/>
              </a:rPr>
              <a:t>–v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Courier New" panose="02070309020205020404"/>
              <a:cs typeface="Courier New" panose="02070309020205020404"/>
            </a:endParaRPr>
          </a:p>
          <a:p>
            <a:pPr marL="1123950">
              <a:lnSpc>
                <a:spcPct val="100000"/>
              </a:lnSpc>
            </a:pPr>
            <a:r>
              <a:rPr sz="2000" b="1" dirty="0">
                <a:latin typeface="Courier New" panose="02070309020205020404"/>
                <a:cs typeface="Courier New" panose="02070309020205020404"/>
              </a:rPr>
              <a:t>&gt;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npm</a:t>
            </a:r>
            <a:r>
              <a:rPr sz="20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5" dirty="0">
                <a:latin typeface="Courier New" panose="02070309020205020404"/>
                <a:cs typeface="Courier New" panose="02070309020205020404"/>
              </a:rPr>
              <a:t>-v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965960" y="2000885"/>
            <a:ext cx="19050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&gt; node -v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&gt; npm -v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Installing</a:t>
            </a:r>
            <a:r>
              <a:rPr sz="16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16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endParaRPr sz="16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5485"/>
            <a:ext cx="5234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r>
              <a:rPr spc="4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-</a:t>
            </a:r>
            <a:r>
              <a:rPr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Command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 Line</a:t>
            </a:r>
            <a:r>
              <a:rPr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Interface</a:t>
            </a:r>
            <a:r>
              <a:rPr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Applications.</a:t>
            </a:r>
            <a:endParaRPr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needs</a:t>
            </a:r>
            <a:r>
              <a:rPr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Node</a:t>
            </a:r>
            <a:r>
              <a:rPr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6.9.x</a:t>
            </a:r>
            <a:r>
              <a:rPr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 </a:t>
            </a:r>
            <a:r>
              <a:rPr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higher,</a:t>
            </a:r>
            <a:r>
              <a:rPr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together</a:t>
            </a:r>
            <a:r>
              <a:rPr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with</a:t>
            </a:r>
            <a:r>
              <a:rPr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3.x.x</a:t>
            </a:r>
            <a:r>
              <a:rPr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 </a:t>
            </a:r>
            <a:r>
              <a:rPr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higher.</a:t>
            </a:r>
            <a:endParaRPr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Install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 Angular</a:t>
            </a:r>
            <a:r>
              <a:rPr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r>
              <a:rPr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using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r>
              <a:rPr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dirty="0">
                <a:latin typeface="Verdana" panose="020B0604030504040204" charset="0"/>
                <a:cs typeface="Verdana" panose="020B0604030504040204" charset="0"/>
                <a:sym typeface="+mn-ea"/>
              </a:rPr>
              <a:t>as </a:t>
            </a:r>
            <a:r>
              <a:rPr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follows:</a:t>
            </a:r>
            <a:endParaRPr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737360" y="1696085"/>
            <a:ext cx="2390775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&gt;</a:t>
            </a:r>
            <a:r>
              <a:rPr b="1" spc="-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b="1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npm</a:t>
            </a:r>
            <a:r>
              <a:rPr b="1" spc="-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 install</a:t>
            </a:r>
            <a:r>
              <a:rPr b="1" spc="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b="1" spc="-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-g @angular/cli</a:t>
            </a:r>
            <a:endParaRPr lang="en-US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Using Angular</a:t>
            </a:r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CLI</a:t>
            </a:r>
            <a:endParaRPr sz="16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553085"/>
            <a:ext cx="5624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Give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following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command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console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create</a:t>
            </a:r>
            <a:r>
              <a:rPr sz="800" spc="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new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Project.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creates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following directory</a:t>
            </a:r>
            <a:r>
              <a:rPr lang="en-US"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structure: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800" dirty="0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60" y="781685"/>
            <a:ext cx="2378710" cy="180594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518160" y="1315085"/>
            <a:ext cx="1859280" cy="5524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ng	new	</a:t>
            </a:r>
            <a:r>
              <a:rPr b="1" spc="-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demo</a:t>
            </a:r>
            <a:endParaRPr>
              <a:latin typeface="Verdana" panose="020B0604030504040204" charset="0"/>
              <a:cs typeface="Verdana" panose="020B0604030504040204" charset="0"/>
            </a:endParaRPr>
          </a:p>
          <a:p>
            <a:pPr algn="ctr"/>
            <a:endParaRPr lang="en-US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Usage</a:t>
            </a:r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of</a:t>
            </a:r>
            <a:r>
              <a:rPr sz="16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16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endParaRPr sz="16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graphicFrame>
        <p:nvGraphicFramePr>
          <p:cNvPr id="6" name="object 3"/>
          <p:cNvGraphicFramePr>
            <a:graphicFrameLocks noGrp="1"/>
          </p:cNvGraphicFramePr>
          <p:nvPr/>
        </p:nvGraphicFramePr>
        <p:xfrm>
          <a:off x="788670" y="476885"/>
          <a:ext cx="4182745" cy="2026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10" dirty="0">
                          <a:latin typeface="Verdana" panose="020B0604030504040204" charset="0"/>
                          <a:cs typeface="Verdana" panose="020B0604030504040204" charset="0"/>
                        </a:rPr>
                        <a:t>Scaffold</a:t>
                      </a: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5" dirty="0">
                          <a:latin typeface="Verdana" panose="020B0604030504040204" charset="0"/>
                          <a:cs typeface="Verdana" panose="020B0604030504040204" charset="0"/>
                        </a:rPr>
                        <a:t>Usage</a:t>
                      </a: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5" dirty="0">
                          <a:latin typeface="Verdana" panose="020B0604030504040204" charset="0"/>
                          <a:cs typeface="Verdana" panose="020B0604030504040204" charset="0"/>
                        </a:rPr>
                        <a:t>Component</a:t>
                      </a: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ng g</a:t>
                      </a:r>
                      <a:r>
                        <a:rPr sz="800" spc="2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component</a:t>
                      </a:r>
                      <a:r>
                        <a:rPr sz="800" spc="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my-new-component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b="1" spc="-10" dirty="0">
                          <a:latin typeface="Verdana" panose="020B0604030504040204" charset="0"/>
                          <a:cs typeface="Verdana" panose="020B0604030504040204" charset="0"/>
                        </a:rPr>
                        <a:t>Directive</a:t>
                      </a: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ng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directive</a:t>
                      </a:r>
                      <a:r>
                        <a:rPr sz="800" spc="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my-new-directive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b="1" spc="-5" dirty="0">
                          <a:latin typeface="Verdana" panose="020B0604030504040204" charset="0"/>
                          <a:cs typeface="Verdana" panose="020B0604030504040204" charset="0"/>
                        </a:rPr>
                        <a:t>Pipe</a:t>
                      </a: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2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 pipe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my-new-pipe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b="1" dirty="0">
                          <a:latin typeface="Verdana" panose="020B0604030504040204" charset="0"/>
                          <a:cs typeface="Verdana" panose="020B0604030504040204" charset="0"/>
                        </a:rPr>
                        <a:t>Service</a:t>
                      </a: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service my-new-service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b="1" spc="-5" dirty="0">
                          <a:latin typeface="Verdana" panose="020B0604030504040204" charset="0"/>
                          <a:cs typeface="Verdana" panose="020B0604030504040204" charset="0"/>
                        </a:rPr>
                        <a:t>Class</a:t>
                      </a: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2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 class</a:t>
                      </a:r>
                      <a:r>
                        <a:rPr sz="800" spc="-2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my-new-class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b="1" spc="-5" dirty="0">
                          <a:latin typeface="Verdana" panose="020B0604030504040204" charset="0"/>
                          <a:cs typeface="Verdana" panose="020B0604030504040204" charset="0"/>
                        </a:rPr>
                        <a:t>Guard</a:t>
                      </a: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guard</a:t>
                      </a:r>
                      <a:r>
                        <a:rPr sz="800" spc="-1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my-new-guard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b="1" spc="-10" dirty="0">
                          <a:latin typeface="Verdana" panose="020B0604030504040204" charset="0"/>
                          <a:cs typeface="Verdana" panose="020B0604030504040204" charset="0"/>
                        </a:rPr>
                        <a:t>Interface</a:t>
                      </a: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1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interface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my-new-interface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b="1" dirty="0">
                          <a:latin typeface="Verdana" panose="020B0604030504040204" charset="0"/>
                          <a:cs typeface="Verdana" panose="020B0604030504040204" charset="0"/>
                        </a:rPr>
                        <a:t>Enum</a:t>
                      </a: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1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enum</a:t>
                      </a:r>
                      <a:r>
                        <a:rPr sz="800" spc="-2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my-new-enum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b="1" dirty="0">
                          <a:latin typeface="Verdana" panose="020B0604030504040204" charset="0"/>
                          <a:cs typeface="Verdana" panose="020B0604030504040204" charset="0"/>
                        </a:rPr>
                        <a:t>Module</a:t>
                      </a: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ng</a:t>
                      </a:r>
                      <a:r>
                        <a:rPr sz="800" spc="-15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g</a:t>
                      </a:r>
                      <a:r>
                        <a:rPr sz="800" spc="-10" dirty="0">
                          <a:latin typeface="Verdana" panose="020B0604030504040204" charset="0"/>
                          <a:cs typeface="Verdana" panose="020B0604030504040204" charset="0"/>
                        </a:rPr>
                        <a:t> </a:t>
                      </a:r>
                      <a:r>
                        <a:rPr sz="800" dirty="0">
                          <a:latin typeface="Verdana" panose="020B0604030504040204" charset="0"/>
                          <a:cs typeface="Verdana" panose="020B0604030504040204" charset="0"/>
                        </a:rPr>
                        <a:t>module</a:t>
                      </a:r>
                      <a:r>
                        <a:rPr sz="800" spc="-5" dirty="0">
                          <a:latin typeface="Verdana" panose="020B0604030504040204" charset="0"/>
                          <a:cs typeface="Verdana" panose="020B0604030504040204" charset="0"/>
                        </a:rPr>
                        <a:t> my-module</a:t>
                      </a:r>
                      <a:endParaRPr sz="800" dirty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1450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Start</a:t>
            </a:r>
            <a:r>
              <a:rPr sz="1600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Server</a:t>
            </a:r>
            <a:endParaRPr sz="16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4850"/>
            <a:ext cx="5234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While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project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folder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(first),</a:t>
            </a:r>
            <a:r>
              <a:rPr sz="8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enter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following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command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to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start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35" dirty="0">
                <a:latin typeface="Verdana" panose="020B0604030504040204" charset="0"/>
                <a:cs typeface="Verdana" panose="020B0604030504040204" charset="0"/>
                <a:sym typeface="+mn-ea"/>
              </a:rPr>
              <a:t>server.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Server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watches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your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files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and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rebuilds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app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whenever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you</a:t>
            </a:r>
            <a:r>
              <a:rPr sz="8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make</a:t>
            </a:r>
            <a:r>
              <a:rPr sz="8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changes</a:t>
            </a:r>
            <a:r>
              <a:rPr sz="8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files</a:t>
            </a:r>
            <a:r>
              <a:rPr sz="8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folder.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8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737360" y="1085850"/>
            <a:ext cx="1847215" cy="288290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149860" rIns="0" bIns="0" rtlCol="0" anchor="ctr" anchorCtr="0">
            <a:spAutoFit/>
          </a:bodyPr>
          <a:lstStyle/>
          <a:p>
            <a:pPr marL="668020" algn="l">
              <a:lnSpc>
                <a:spcPct val="100000"/>
              </a:lnSpc>
              <a:spcBef>
                <a:spcPts val="1180"/>
              </a:spcBef>
            </a:pPr>
            <a:r>
              <a:rPr sz="900" b="1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</a:rPr>
              <a:t>ng</a:t>
            </a:r>
            <a:r>
              <a:rPr sz="900" b="1" spc="-4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</a:rPr>
              <a:t> </a:t>
            </a:r>
            <a:r>
              <a:rPr sz="900" b="1" spc="-5" dirty="0">
                <a:solidFill>
                  <a:srgbClr val="23292D"/>
                </a:solidFill>
                <a:latin typeface="Verdana" panose="020B0604030504040204" charset="0"/>
                <a:cs typeface="Verdana" panose="020B0604030504040204" charset="0"/>
              </a:rPr>
              <a:t>serve</a:t>
            </a:r>
            <a:endParaRPr sz="9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9560" y="1414145"/>
            <a:ext cx="26289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charset="0"/>
              <a:buChar char="q"/>
            </a:pP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Go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browser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and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navigate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following</a:t>
            </a:r>
            <a:r>
              <a:rPr sz="8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URL: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US" sz="8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89560" y="2000250"/>
            <a:ext cx="47199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charset="0"/>
              <a:buChar char="q"/>
            </a:pP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possible</a:t>
            </a:r>
            <a:r>
              <a:rPr sz="8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start</a:t>
            </a:r>
            <a:r>
              <a:rPr sz="8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server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on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 a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different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port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number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than </a:t>
            </a:r>
            <a:r>
              <a:rPr sz="8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default</a:t>
            </a:r>
            <a:r>
              <a:rPr sz="8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(4200)</a:t>
            </a:r>
            <a:r>
              <a:rPr sz="8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dirty="0">
                <a:latin typeface="Verdana" panose="020B0604030504040204" charset="0"/>
                <a:cs typeface="Verdana" panose="020B0604030504040204" charset="0"/>
                <a:sym typeface="+mn-ea"/>
              </a:rPr>
              <a:t>as</a:t>
            </a:r>
            <a:r>
              <a:rPr sz="8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8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follows:</a:t>
            </a:r>
            <a:endParaRPr sz="8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US" sz="8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9" name="object 8"/>
          <p:cNvSpPr txBox="1"/>
          <p:nvPr/>
        </p:nvSpPr>
        <p:spPr>
          <a:xfrm>
            <a:off x="1356360" y="2229485"/>
            <a:ext cx="2592705" cy="288925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85"/>
              </a:spcBef>
            </a:pPr>
            <a:r>
              <a:rPr sz="900" b="1" dirty="0">
                <a:latin typeface="Verdana" panose="020B0604030504040204" charset="0"/>
                <a:cs typeface="Verdana" panose="020B0604030504040204" charset="0"/>
              </a:rPr>
              <a:t>ng</a:t>
            </a:r>
            <a:r>
              <a:rPr sz="900" b="1" spc="-10" dirty="0">
                <a:latin typeface="Verdana" panose="020B0604030504040204" charset="0"/>
                <a:cs typeface="Verdana" panose="020B0604030504040204" charset="0"/>
              </a:rPr>
              <a:t> </a:t>
            </a:r>
            <a:r>
              <a:rPr sz="900" b="1" spc="-5" dirty="0">
                <a:latin typeface="Verdana" panose="020B0604030504040204" charset="0"/>
                <a:cs typeface="Verdana" panose="020B0604030504040204" charset="0"/>
              </a:rPr>
              <a:t>serve</a:t>
            </a:r>
            <a:r>
              <a:rPr sz="900" b="1" spc="-10" dirty="0">
                <a:latin typeface="Verdana" panose="020B0604030504040204" charset="0"/>
                <a:cs typeface="Verdana" panose="020B0604030504040204" charset="0"/>
              </a:rPr>
              <a:t> </a:t>
            </a:r>
            <a:r>
              <a:rPr sz="900" b="1" spc="-5" dirty="0">
                <a:latin typeface="Verdana" panose="020B0604030504040204" charset="0"/>
                <a:cs typeface="Verdana" panose="020B0604030504040204" charset="0"/>
              </a:rPr>
              <a:t>–port</a:t>
            </a:r>
            <a:r>
              <a:rPr sz="900" b="1" spc="-15" dirty="0">
                <a:latin typeface="Verdana" panose="020B0604030504040204" charset="0"/>
                <a:cs typeface="Verdana" panose="020B0604030504040204" charset="0"/>
              </a:rPr>
              <a:t> </a:t>
            </a:r>
            <a:r>
              <a:rPr sz="900" b="1" spc="-5" dirty="0">
                <a:latin typeface="Verdana" panose="020B0604030504040204" charset="0"/>
                <a:cs typeface="Verdana" panose="020B0604030504040204" charset="0"/>
              </a:rPr>
              <a:t>3000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1357630" y="1657350"/>
            <a:ext cx="2606675" cy="288925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900" b="1" dirty="0">
                <a:latin typeface="Verdana" panose="020B0604030504040204" charset="0"/>
                <a:cs typeface="Verdana" panose="020B0604030504040204" charset="0"/>
              </a:rPr>
              <a:t>http://localhost:4200</a:t>
            </a:r>
            <a:endParaRPr sz="90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2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Important</a:t>
            </a:r>
            <a:r>
              <a:rPr sz="12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files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project</a:t>
            </a:r>
            <a:r>
              <a:rPr sz="12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folder</a:t>
            </a:r>
            <a:endParaRPr sz="1200" spc="-15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2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400685"/>
            <a:ext cx="5246370" cy="220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435"/>
              </a:spcBef>
            </a:pPr>
            <a:r>
              <a:rPr sz="700" b="1" spc="-5" dirty="0">
                <a:solidFill>
                  <a:srgbClr val="006FC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app/app.module.ts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pPr marL="22860">
              <a:lnSpc>
                <a:spcPct val="100000"/>
              </a:lnSpc>
              <a:spcBef>
                <a:spcPts val="335"/>
              </a:spcBef>
            </a:pP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Defines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AppModule,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root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module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that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tells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Angular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how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assemble</a:t>
            </a:r>
            <a:r>
              <a:rPr sz="700" spc="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application.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Right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now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declares</a:t>
            </a:r>
            <a:r>
              <a:rPr sz="7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only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pPr marL="22860">
              <a:lnSpc>
                <a:spcPct val="100000"/>
              </a:lnSpc>
            </a:pP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AppComponent.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00" b="1" spc="-5" dirty="0">
              <a:solidFill>
                <a:srgbClr val="006FC0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700" b="1" spc="-5" dirty="0">
                <a:solidFill>
                  <a:srgbClr val="006FC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app/app.component.{ts,html,css,spec.ts}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Defines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AppComponent</a:t>
            </a:r>
            <a:r>
              <a:rPr sz="700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along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with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an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HTML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template,</a:t>
            </a:r>
            <a:r>
              <a:rPr sz="7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CSS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stylesheet,</a:t>
            </a:r>
            <a:r>
              <a:rPr sz="700" spc="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and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unit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test.</a:t>
            </a:r>
            <a:r>
              <a:rPr sz="7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root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component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pPr marL="22860">
              <a:lnSpc>
                <a:spcPct val="100000"/>
              </a:lnSpc>
            </a:pP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of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what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will</a:t>
            </a:r>
            <a:r>
              <a:rPr sz="7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become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tree</a:t>
            </a:r>
            <a:r>
              <a:rPr sz="7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of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nested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components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as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evolves.</a:t>
            </a:r>
          </a:p>
          <a:p>
            <a:pPr marL="22860">
              <a:lnSpc>
                <a:spcPct val="100000"/>
              </a:lnSpc>
            </a:pPr>
            <a:endParaRPr sz="700" b="1" spc="-5" dirty="0">
              <a:solidFill>
                <a:srgbClr val="006FC0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  <a:p>
            <a:pPr marL="22860">
              <a:lnSpc>
                <a:spcPct val="100000"/>
              </a:lnSpc>
            </a:pPr>
            <a:r>
              <a:rPr sz="700" b="1" spc="-5" dirty="0">
                <a:solidFill>
                  <a:srgbClr val="006FC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index.html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main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HTML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page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that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served</a:t>
            </a:r>
            <a:r>
              <a:rPr sz="7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when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someone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visits</a:t>
            </a:r>
            <a:r>
              <a:rPr sz="7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your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site.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Most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of the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time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you'll</a:t>
            </a:r>
            <a:r>
              <a:rPr sz="7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never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need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edit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it.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The </a:t>
            </a:r>
            <a:r>
              <a:rPr sz="700" spc="-434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CLI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automatically</a:t>
            </a:r>
            <a:r>
              <a:rPr sz="7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adds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all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js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and css</a:t>
            </a:r>
            <a:r>
              <a:rPr sz="7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files</a:t>
            </a:r>
            <a:r>
              <a:rPr sz="7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when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building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your</a:t>
            </a:r>
            <a:r>
              <a:rPr sz="7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app,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so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you</a:t>
            </a:r>
            <a:r>
              <a:rPr sz="7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never</a:t>
            </a:r>
            <a:r>
              <a:rPr sz="7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need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add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any</a:t>
            </a:r>
            <a:r>
              <a:rPr sz="7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script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or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link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tags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here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manually.</a:t>
            </a: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endParaRPr sz="700" b="1" spc="-10" dirty="0">
              <a:solidFill>
                <a:srgbClr val="006FC0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700" b="1" spc="-10" dirty="0">
                <a:solidFill>
                  <a:srgbClr val="006FC0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main.ts</a:t>
            </a: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main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entry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point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your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app.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Compiles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with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JIT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compiler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 and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bootstraps</a:t>
            </a:r>
            <a:r>
              <a:rPr sz="7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7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application's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pPr marL="34290">
              <a:lnSpc>
                <a:spcPct val="100000"/>
              </a:lnSpc>
              <a:spcBef>
                <a:spcPts val="5"/>
              </a:spcBef>
            </a:pP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root</a:t>
            </a:r>
            <a:r>
              <a:rPr sz="7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module (AppModule)</a:t>
            </a:r>
            <a:r>
              <a:rPr sz="7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run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in</a:t>
            </a:r>
            <a:r>
              <a:rPr sz="7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700" dirty="0">
                <a:latin typeface="Verdana" panose="020B0604030504040204" charset="0"/>
                <a:cs typeface="Verdana" panose="020B0604030504040204" charset="0"/>
                <a:sym typeface="+mn-ea"/>
              </a:rPr>
              <a:t>the </a:t>
            </a:r>
            <a:r>
              <a:rPr sz="700" spc="-40" dirty="0">
                <a:latin typeface="Verdana" panose="020B0604030504040204" charset="0"/>
                <a:cs typeface="Verdana" panose="020B0604030504040204" charset="0"/>
                <a:sym typeface="+mn-ea"/>
              </a:rPr>
              <a:t>browser.</a:t>
            </a:r>
            <a:endParaRPr sz="7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700" dirty="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Building</a:t>
            </a:r>
            <a:r>
              <a:rPr sz="1600" spc="-5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Blocks</a:t>
            </a:r>
            <a:endParaRPr sz="16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5485"/>
            <a:ext cx="52343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Modules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Components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Templates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Metadata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Data</a:t>
            </a:r>
            <a:r>
              <a:rPr sz="1200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binding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Directives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Services</a:t>
            </a:r>
            <a:endParaRPr sz="1200" dirty="0">
              <a:latin typeface="Verdana" panose="020B0604030504040204" charset="0"/>
              <a:cs typeface="Verdana" panose="020B0604030504040204" charset="0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sz="12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Dependency</a:t>
            </a:r>
            <a:r>
              <a:rPr sz="1200" spc="-7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1200" dirty="0">
                <a:latin typeface="Verdana" panose="020B0604030504040204" charset="0"/>
                <a:cs typeface="Verdana" panose="020B0604030504040204" charset="0"/>
                <a:sym typeface="+mn-ea"/>
              </a:rPr>
              <a:t>injection</a:t>
            </a:r>
            <a:endParaRPr lang="en-IN" sz="1200" dirty="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Module</a:t>
            </a:r>
            <a:endParaRPr sz="14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4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553085"/>
            <a:ext cx="5105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A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module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a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class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that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is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decorated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with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b="1" dirty="0">
                <a:latin typeface="Verdana" panose="020B0604030504040204" charset="0"/>
                <a:cs typeface="Verdana" panose="020B0604030504040204" charset="0"/>
                <a:sym typeface="+mn-ea"/>
              </a:rPr>
              <a:t>@NgModule</a:t>
            </a:r>
            <a:r>
              <a:rPr sz="900" b="1" spc="-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35" dirty="0">
                <a:latin typeface="Verdana" panose="020B0604030504040204" charset="0"/>
                <a:cs typeface="Verdana" panose="020B0604030504040204" charset="0"/>
                <a:sym typeface="+mn-ea"/>
              </a:rPr>
              <a:t>decorator.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Every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contains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at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least</a:t>
            </a:r>
            <a:r>
              <a:rPr sz="900" spc="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one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module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called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root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module,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conventionally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called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as</a:t>
            </a:r>
            <a:r>
              <a:rPr sz="9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b="1" dirty="0">
                <a:latin typeface="Verdana" panose="020B0604030504040204" charset="0"/>
                <a:cs typeface="Verdana" panose="020B0604030504040204" charset="0"/>
                <a:sym typeface="+mn-ea"/>
              </a:rPr>
              <a:t>AppModule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.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NgModule</a:t>
            </a:r>
            <a:r>
              <a:rPr sz="900" spc="-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decorator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provides</a:t>
            </a:r>
            <a:r>
              <a:rPr sz="9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information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about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module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using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properties</a:t>
            </a:r>
            <a:r>
              <a:rPr sz="9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listed</a:t>
            </a:r>
            <a:r>
              <a:rPr sz="9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below: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sz="9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Declaration</a:t>
            </a:r>
            <a:r>
              <a:rPr sz="900" b="1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–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Classes</a:t>
            </a:r>
            <a:r>
              <a:rPr sz="9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that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belong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this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module.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They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may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be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components,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directives</a:t>
            </a:r>
            <a:r>
              <a:rPr sz="9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and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pipes.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sz="900" b="1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Exports</a:t>
            </a:r>
            <a:r>
              <a:rPr sz="9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–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subset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of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declarations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that</a:t>
            </a:r>
            <a:r>
              <a:rPr sz="900" spc="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should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be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visible</a:t>
            </a:r>
            <a:r>
              <a:rPr sz="900" spc="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to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other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modules.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"/>
              <a:tabLst>
                <a:tab pos="756920" algn="l"/>
              </a:tabLst>
            </a:pPr>
            <a:r>
              <a:rPr sz="900" b="1" dirty="0">
                <a:latin typeface="Verdana" panose="020B0604030504040204" charset="0"/>
                <a:cs typeface="Verdana" panose="020B0604030504040204" charset="0"/>
                <a:sym typeface="+mn-ea"/>
              </a:rPr>
              <a:t>Imports</a:t>
            </a:r>
            <a:r>
              <a:rPr sz="900" b="1" spc="-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– Specifies</a:t>
            </a:r>
            <a:r>
              <a:rPr sz="9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modules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whose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exported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classes</a:t>
            </a:r>
            <a:r>
              <a:rPr sz="900" spc="3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are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needed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 in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this</a:t>
            </a:r>
            <a:r>
              <a:rPr sz="9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module.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pPr marL="756285" marR="158750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sz="900" b="1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Bootstrap</a:t>
            </a:r>
            <a:r>
              <a:rPr sz="900" b="1" spc="-3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–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Specifies</a:t>
            </a:r>
            <a:r>
              <a:rPr sz="900" spc="2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main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view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–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root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component.</a:t>
            </a:r>
            <a:r>
              <a:rPr sz="900" spc="-2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It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is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base</a:t>
            </a:r>
            <a:r>
              <a:rPr sz="900" spc="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for</a:t>
            </a:r>
            <a:r>
              <a:rPr sz="9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the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15" dirty="0">
                <a:latin typeface="Verdana" panose="020B0604030504040204" charset="0"/>
                <a:cs typeface="Verdana" panose="020B0604030504040204" charset="0"/>
                <a:sym typeface="+mn-ea"/>
              </a:rPr>
              <a:t>rest</a:t>
            </a:r>
            <a:r>
              <a:rPr sz="900" spc="15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of </a:t>
            </a:r>
            <a:r>
              <a:rPr sz="900" dirty="0">
                <a:latin typeface="Verdana" panose="020B0604030504040204" charset="0"/>
                <a:cs typeface="Verdana" panose="020B0604030504040204" charset="0"/>
                <a:sym typeface="+mn-ea"/>
              </a:rPr>
              <a:t>the </a:t>
            </a:r>
            <a:r>
              <a:rPr sz="900" spc="-440" dirty="0">
                <a:latin typeface="Verdana" panose="020B0604030504040204" charset="0"/>
                <a:cs typeface="Verdana" panose="020B0604030504040204" charset="0"/>
                <a:sym typeface="+mn-ea"/>
              </a:rPr>
              <a:t> </a:t>
            </a:r>
            <a:r>
              <a:rPr sz="900" spc="-5" dirty="0">
                <a:latin typeface="Verdana" panose="020B0604030504040204" charset="0"/>
                <a:cs typeface="Verdana" panose="020B0604030504040204" charset="0"/>
                <a:sym typeface="+mn-ea"/>
              </a:rPr>
              <a:t>application.</a:t>
            </a:r>
            <a:endParaRPr sz="900" dirty="0">
              <a:latin typeface="Verdana" panose="020B0604030504040204" charset="0"/>
              <a:cs typeface="Verdana" panose="020B0604030504040204" charset="0"/>
            </a:endParaRPr>
          </a:p>
          <a:p>
            <a:endParaRPr lang="en-IN" sz="900" dirty="0">
              <a:latin typeface="Verdana" panose="020B060403050404020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spc="-10" dirty="0">
                <a:latin typeface="Verdana" panose="020B0604030504040204" charset="0"/>
                <a:cs typeface="Verdana" panose="020B0604030504040204" charset="0"/>
                <a:sym typeface="+mn-ea"/>
              </a:rPr>
              <a:t>Module</a:t>
            </a:r>
            <a:endParaRPr sz="1600" spc="-1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  <a:p>
            <a:pPr algn="l"/>
            <a:endParaRPr lang="en-IN" sz="16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262890" y="705485"/>
            <a:ext cx="5234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D4FF9-217F-41DE-A53B-67C58DEF4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29" y="587057"/>
            <a:ext cx="5076825" cy="17411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Angular</a:t>
            </a:r>
            <a:r>
              <a:rPr lang="en-US" sz="14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Module</a:t>
            </a:r>
            <a:r>
              <a:rPr lang="en-US" sz="1400" spc="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vs.</a:t>
            </a:r>
            <a:r>
              <a:rPr lang="en-US" sz="1400" spc="-3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20" dirty="0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n-US" sz="1400" spc="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Module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553244"/>
            <a:ext cx="5234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in Angular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decorated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@</a:t>
            </a:r>
            <a:r>
              <a:rPr lang="en-US" sz="800" b="1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NgModule</a:t>
            </a:r>
            <a:r>
              <a:rPr lang="en-US" sz="800" b="1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decorator.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Whereas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JavaScript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file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all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defined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 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file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belong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that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JavaScript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exports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some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using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export</a:t>
            </a:r>
            <a:r>
              <a:rPr lang="en-US" sz="800" b="1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keyword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 imported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other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modules</a:t>
            </a:r>
          </a:p>
          <a:p>
            <a:pPr marL="299085">
              <a:lnSpc>
                <a:spcPct val="100000"/>
              </a:lnSpc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using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import</a:t>
            </a:r>
            <a:r>
              <a:rPr lang="en-US" sz="800" b="1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ships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couple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JavaScript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each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beginning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@angular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prefix.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order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use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objects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those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modules,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we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need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import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them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using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import</a:t>
            </a:r>
            <a:r>
              <a:rPr lang="en-US" sz="800" b="1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</a:t>
            </a:r>
            <a:r>
              <a:rPr lang="en-US" sz="800" spc="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JavaScript.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24084F4-A21A-42EB-89A0-F661F8B1C205}"/>
              </a:ext>
            </a:extLst>
          </p:cNvPr>
          <p:cNvSpPr txBox="1"/>
          <p:nvPr/>
        </p:nvSpPr>
        <p:spPr>
          <a:xfrm>
            <a:off x="1013619" y="1772444"/>
            <a:ext cx="3733800" cy="3103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3019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z="9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import</a:t>
            </a:r>
            <a:r>
              <a:rPr sz="9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</a:t>
            </a:r>
            <a:r>
              <a:rPr sz="9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Component</a:t>
            </a:r>
            <a:r>
              <a:rPr sz="9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}</a:t>
            </a:r>
            <a:r>
              <a:rPr sz="9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from</a:t>
            </a:r>
            <a:r>
              <a:rPr sz="9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'@angular/core';</a:t>
            </a:r>
            <a:endParaRPr sz="9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1440">
              <a:lnSpc>
                <a:spcPct val="100000"/>
              </a:lnSpc>
            </a:pPr>
            <a:r>
              <a:rPr sz="9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import</a:t>
            </a: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</a:t>
            </a:r>
            <a:r>
              <a:rPr sz="9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BrowserModule</a:t>
            </a:r>
            <a:r>
              <a:rPr sz="9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}</a:t>
            </a:r>
            <a:r>
              <a:rPr sz="9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9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from '@angular/platform-browser';</a:t>
            </a:r>
            <a:endParaRPr sz="9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5581" y="117629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Compone</a:t>
            </a:r>
            <a:r>
              <a:rPr lang="en-US" sz="1400" spc="-35" dirty="0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5581" y="324890"/>
            <a:ext cx="5234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controls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screen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called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Every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class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own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data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and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code.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may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depend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services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injected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using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dependency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injection.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template,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metadata,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component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together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describe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decorated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-5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@Component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decorator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through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which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we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specify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template,</a:t>
            </a:r>
            <a:r>
              <a:rPr lang="en-US" sz="800" b="1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styles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</a:p>
          <a:p>
            <a:pPr marL="299085">
              <a:lnSpc>
                <a:spcPct val="100000"/>
              </a:lnSpc>
            </a:pP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selector</a:t>
            </a:r>
            <a:r>
              <a:rPr lang="en-US" sz="800" b="1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(tag)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related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like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1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templateUrl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,</a:t>
            </a:r>
            <a:r>
              <a:rPr lang="en-US" sz="800" b="1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styleUrl</a:t>
            </a:r>
            <a:r>
              <a:rPr lang="en-US" sz="800" b="1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providers</a:t>
            </a:r>
            <a:r>
              <a:rPr lang="en-US" sz="800" b="1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also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used.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9C2C8-E6E9-4F89-94E7-BB364F46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66" y="1391444"/>
            <a:ext cx="4697105" cy="11228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355" dirty="0">
                <a:latin typeface="Verdana" panose="020B0604030504040204" pitchFamily="34" charset="0"/>
                <a:ea typeface="Verdana" panose="020B0604030504040204" pitchFamily="34" charset="0"/>
              </a:rPr>
              <a:t>T </a:t>
            </a:r>
            <a:r>
              <a:rPr lang="en-US" sz="14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emp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l</a:t>
            </a:r>
            <a:r>
              <a:rPr lang="en-US" sz="1400" spc="-50" dirty="0" err="1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n-US" sz="1400" spc="-60" dirty="0" err="1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n-US" sz="14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endParaRPr lang="en-US" sz="1400" spc="-5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5975" y="423838"/>
            <a:ext cx="52343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Component's</a:t>
            </a:r>
            <a:r>
              <a:rPr lang="en-US" sz="8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is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companion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form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 that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tells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how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render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user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interface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(UI)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following: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</a:t>
            </a: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Interpolation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{{</a:t>
            </a:r>
            <a:r>
              <a:rPr lang="en-US" sz="800" spc="-4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…}}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Structural</a:t>
            </a:r>
            <a:r>
              <a:rPr lang="en-US" sz="800" spc="4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Attribute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directives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Data</a:t>
            </a:r>
            <a:r>
              <a:rPr lang="en-US" sz="8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z="8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variables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Pipes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77599-9162-43C5-8912-B1AD54EFB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797" y="1696244"/>
            <a:ext cx="3205254" cy="96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890" y="453324"/>
            <a:ext cx="5234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z="8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put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using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{{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}},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called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interpolation.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updates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display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whenever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changes.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context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instance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associated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evaluated,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converted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string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sent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client.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expression,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call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methods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 associated</a:t>
            </a:r>
            <a:r>
              <a:rPr lang="en-US" sz="800" spc="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view.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target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may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element,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component,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case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assigning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property,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4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may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appear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double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quotes.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7D20E-73FD-4CB7-80F7-F2D8CA71A962}"/>
              </a:ext>
            </a:extLst>
          </p:cNvPr>
          <p:cNvSpPr txBox="1"/>
          <p:nvPr/>
        </p:nvSpPr>
        <p:spPr>
          <a:xfrm>
            <a:off x="262890" y="182265"/>
            <a:ext cx="1325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Interpolation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EC9396B-8518-4857-B8B4-31A1325324FD}"/>
              </a:ext>
            </a:extLst>
          </p:cNvPr>
          <p:cNvSpPr txBox="1"/>
          <p:nvPr/>
        </p:nvSpPr>
        <p:spPr>
          <a:xfrm>
            <a:off x="1356519" y="1589225"/>
            <a:ext cx="2667000" cy="369973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/>
            </a:endParaRPr>
          </a:p>
          <a:p>
            <a:pPr marL="92075">
              <a:lnSpc>
                <a:spcPct val="100000"/>
              </a:lnSpc>
            </a:pPr>
            <a:r>
              <a:rPr sz="800" b="1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&lt;span</a:t>
            </a:r>
            <a:r>
              <a:rPr sz="800" b="1" spc="-4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b="1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[hidden]="isNew"&gt;Modified&lt;/span&gt;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  <a:tabLst>
                <a:tab pos="845185" algn="l"/>
              </a:tabLst>
            </a:pPr>
            <a:r>
              <a:rPr sz="800" b="1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&lt;img	</a:t>
            </a:r>
            <a:r>
              <a:rPr sz="800" b="1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src="{{filename}}"</a:t>
            </a:r>
            <a:r>
              <a:rPr sz="800" b="1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b="1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/&gt;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60" dirty="0">
                <a:latin typeface="Verdana" panose="020B0604030504040204" pitchFamily="34" charset="0"/>
                <a:ea typeface="Verdana" panose="020B0604030504040204" pitchFamily="34" charset="0"/>
              </a:rPr>
              <a:t>Template </a:t>
            </a:r>
            <a:r>
              <a:rPr lang="en-US" sz="1400" spc="-25" dirty="0">
                <a:latin typeface="Verdana" panose="020B0604030504040204" pitchFamily="34" charset="0"/>
                <a:ea typeface="Verdana" panose="020B0604030504040204" pitchFamily="34" charset="0"/>
              </a:rPr>
              <a:t>Statement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127" y="432964"/>
            <a:ext cx="523430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template</a:t>
            </a:r>
            <a:r>
              <a:rPr lang="en-US" sz="75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b="1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</a:t>
            </a:r>
            <a:r>
              <a:rPr lang="en-US" sz="75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responds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 </a:t>
            </a:r>
            <a:r>
              <a:rPr lang="en-US" sz="75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</a:t>
            </a:r>
            <a:r>
              <a:rPr lang="en-US" sz="75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raised</a:t>
            </a:r>
            <a:r>
              <a:rPr lang="en-US" sz="75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target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such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element,</a:t>
            </a:r>
            <a:r>
              <a:rPr lang="en-US" sz="75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component,</a:t>
            </a:r>
            <a:r>
              <a:rPr lang="en-US" sz="75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directive.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marR="825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75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</a:t>
            </a:r>
            <a:r>
              <a:rPr lang="en-US" sz="750" spc="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parser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differs</a:t>
            </a:r>
            <a:r>
              <a:rPr lang="en-US" sz="75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750" spc="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parser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specifically</a:t>
            </a:r>
            <a:r>
              <a:rPr lang="en-US" sz="75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supports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both </a:t>
            </a:r>
            <a:r>
              <a:rPr lang="en-US" sz="750" spc="-4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basic assignment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(=)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chaining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expressions</a:t>
            </a:r>
            <a:r>
              <a:rPr lang="en-US" sz="75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(with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;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,).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75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75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statements</a:t>
            </a:r>
            <a:r>
              <a:rPr lang="en-US" sz="750" spc="5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cannot</a:t>
            </a:r>
            <a:r>
              <a:rPr lang="en-US" sz="75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anything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global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namespace.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NOT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refer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window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document.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cannot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call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console.log or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Math.max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.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following expressions</a:t>
            </a:r>
            <a:r>
              <a:rPr lang="en-US" sz="75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JavaScript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NOT</a:t>
            </a:r>
            <a:r>
              <a:rPr lang="en-US" sz="75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allowed: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669925" lvl="1" indent="-200660">
              <a:lnSpc>
                <a:spcPct val="100000"/>
              </a:lnSpc>
              <a:buSzPct val="95000"/>
              <a:buFont typeface="Wingdings" panose="05000000000000000000"/>
              <a:buChar char=""/>
              <a:tabLst>
                <a:tab pos="670560" algn="l"/>
              </a:tabLst>
            </a:pP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new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670560" lvl="1" indent="-201295">
              <a:lnSpc>
                <a:spcPct val="100000"/>
              </a:lnSpc>
              <a:buSzPct val="95000"/>
              <a:buFont typeface="Wingdings" panose="05000000000000000000"/>
              <a:buChar char=""/>
              <a:tabLst>
                <a:tab pos="671195" algn="l"/>
              </a:tabLst>
            </a:pP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increment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decrement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operators,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++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--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669925" lvl="1" indent="-200660">
              <a:lnSpc>
                <a:spcPct val="100000"/>
              </a:lnSpc>
              <a:spcBef>
                <a:spcPts val="5"/>
              </a:spcBef>
              <a:buSzPct val="95000"/>
              <a:buFont typeface="Wingdings" panose="05000000000000000000"/>
              <a:buChar char=""/>
              <a:tabLst>
                <a:tab pos="670560" algn="l"/>
              </a:tabLst>
            </a:pPr>
            <a:r>
              <a:rPr lang="en-US" sz="75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operator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assignment,</a:t>
            </a:r>
            <a:r>
              <a:rPr lang="en-US" sz="75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such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+=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and 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-=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669925" lvl="1" indent="-200660">
              <a:lnSpc>
                <a:spcPct val="100000"/>
              </a:lnSpc>
              <a:buSzPct val="95000"/>
              <a:buFont typeface="Wingdings" panose="05000000000000000000"/>
              <a:buChar char=""/>
              <a:tabLst>
                <a:tab pos="670560" algn="l"/>
              </a:tabLst>
            </a:pP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bitwise</a:t>
            </a:r>
            <a:r>
              <a:rPr lang="en-US" sz="75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operators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|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&amp;</a:t>
            </a:r>
          </a:p>
          <a:p>
            <a:pPr marL="669925" lvl="1" indent="-200660">
              <a:lnSpc>
                <a:spcPct val="100000"/>
              </a:lnSpc>
              <a:buSzPct val="95000"/>
              <a:buFont typeface="Wingdings" panose="05000000000000000000"/>
              <a:buChar char=""/>
              <a:tabLst>
                <a:tab pos="670560" algn="l"/>
              </a:tabLst>
            </a:pPr>
            <a:r>
              <a:rPr lang="en-US" sz="7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75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75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75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75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operators</a:t>
            </a:r>
            <a:endParaRPr lang="en-US" sz="75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75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CDF93A2-16DE-44C7-803B-E43E6D30BC34}"/>
              </a:ext>
            </a:extLst>
          </p:cNvPr>
          <p:cNvSpPr txBox="1"/>
          <p:nvPr/>
        </p:nvSpPr>
        <p:spPr>
          <a:xfrm>
            <a:off x="1356519" y="2163220"/>
            <a:ext cx="2743200" cy="27956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302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lnSpc>
                <a:spcPct val="100000"/>
              </a:lnSpc>
              <a:spcBef>
                <a:spcPts val="260"/>
              </a:spcBef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&lt;button</a:t>
            </a:r>
            <a:r>
              <a:rPr sz="800" spc="-3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(click)="calculate()"&gt;Calculate&lt;/button&gt;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1440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&lt;button</a:t>
            </a:r>
            <a:r>
              <a:rPr sz="800" spc="-3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(click)="onSave($event)"&gt;Save&lt;/button&gt;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30" dirty="0"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en-US" sz="1400" spc="-4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Binding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490051"/>
            <a:ext cx="52343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Data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allows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copying</a:t>
            </a:r>
            <a:r>
              <a:rPr lang="en-US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</a:t>
            </a:r>
            <a:r>
              <a:rPr lang="en-US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</a:t>
            </a:r>
            <a:r>
              <a:rPr lang="en-US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</a:t>
            </a:r>
            <a:r>
              <a:rPr lang="en-US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HTML elements.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Following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different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bindings</a:t>
            </a:r>
            <a:r>
              <a:rPr lang="en-US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available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:</a:t>
            </a: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</a:t>
            </a:r>
            <a:r>
              <a:rPr lang="en-US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</a:t>
            </a:r>
            <a:r>
              <a:rPr lang="en-US" spc="-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pc="-6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756285" lvl="1" indent="-287020">
              <a:lnSpc>
                <a:spcPct val="100000"/>
              </a:lnSpc>
              <a:buFont typeface="Wingdings" panose="05000000000000000000"/>
              <a:buChar char=""/>
              <a:tabLst>
                <a:tab pos="756920" algn="l"/>
              </a:tabLst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</a:t>
            </a:r>
            <a:r>
              <a:rPr lang="en-US" spc="-9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10" dirty="0">
                <a:latin typeface="Verdana" panose="020B0604030504040204" pitchFamily="34" charset="0"/>
                <a:ea typeface="Verdana" panose="020B0604030504040204" pitchFamily="34" charset="0"/>
              </a:rPr>
              <a:t>Property</a:t>
            </a:r>
            <a:r>
              <a:rPr lang="en-US" sz="16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spc="-5" dirty="0">
                <a:latin typeface="Verdana" panose="020B0604030504040204" pitchFamily="34" charset="0"/>
                <a:ea typeface="Verdana" panose="020B0604030504040204" pitchFamily="34" charset="0"/>
              </a:rPr>
              <a:t>Binding</a:t>
            </a:r>
          </a:p>
          <a:p>
            <a:pPr algn="l"/>
            <a:endParaRPr lang="en-IN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5485"/>
            <a:ext cx="52343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Binds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 HTML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Component.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Target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property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must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property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and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not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just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DOM</a:t>
            </a:r>
            <a:r>
              <a:rPr lang="en-US" sz="9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49A494C-F0B1-41F8-A5BA-8944E911CA87}"/>
              </a:ext>
            </a:extLst>
          </p:cNvPr>
          <p:cNvSpPr txBox="1"/>
          <p:nvPr/>
        </p:nvSpPr>
        <p:spPr>
          <a:xfrm>
            <a:off x="410435" y="1240167"/>
            <a:ext cx="2451417" cy="506549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1358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marR="640080">
              <a:lnSpc>
                <a:spcPct val="100000"/>
              </a:lnSpc>
              <a:spcBef>
                <a:spcPts val="1070"/>
              </a:spcBef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{{expression}}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[targetproperty]="expression"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bind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-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ta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r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get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p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rope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r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ty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=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"ex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p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ress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i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on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"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9E98D20-CE0C-44D1-8DCB-B5378F92E0CE}"/>
              </a:ext>
            </a:extLst>
          </p:cNvPr>
          <p:cNvSpPr txBox="1"/>
          <p:nvPr/>
        </p:nvSpPr>
        <p:spPr>
          <a:xfrm>
            <a:off x="3127786" y="1240808"/>
            <a:ext cx="2222817" cy="505908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1352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lnSpc>
                <a:spcPct val="100000"/>
              </a:lnSpc>
              <a:spcBef>
                <a:spcPts val="1065"/>
              </a:spcBef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&lt;img</a:t>
            </a:r>
            <a:r>
              <a:rPr sz="800" spc="-5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[src]="heroImageUrl"&gt;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&lt;img</a:t>
            </a:r>
            <a:r>
              <a:rPr sz="800" spc="-2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bind-src="heroImageUrl"&gt;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&lt;img</a:t>
            </a:r>
            <a:r>
              <a:rPr sz="800" spc="-5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src="{{imageUrl}}"&gt;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4760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HTML</a:t>
            </a:r>
            <a:r>
              <a:rPr lang="sv-SE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sv-SE" sz="1400" spc="-30" dirty="0">
                <a:latin typeface="Verdana" panose="020B0604030504040204" pitchFamily="34" charset="0"/>
                <a:ea typeface="Verdana" panose="020B0604030504040204" pitchFamily="34" charset="0"/>
              </a:rPr>
              <a:t>Attribute</a:t>
            </a:r>
            <a:r>
              <a:rPr lang="sv-SE" sz="1400" spc="2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sv-SE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vs.</a:t>
            </a:r>
            <a:r>
              <a:rPr lang="sv-SE" sz="14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sv-SE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DOM</a:t>
            </a:r>
            <a:r>
              <a:rPr lang="sv-SE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sv-SE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Property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5485"/>
            <a:ext cx="5234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defined</a:t>
            </a:r>
            <a:r>
              <a:rPr lang="en-US" sz="900" spc="-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z="900" spc="-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</a:t>
            </a:r>
            <a:r>
              <a:rPr lang="en-US" sz="900" spc="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defined</a:t>
            </a:r>
            <a:r>
              <a:rPr lang="en-US" sz="900" spc="-1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z="900" spc="-1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DOM</a:t>
            </a:r>
            <a:r>
              <a:rPr lang="en-US" sz="900" spc="-3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(Document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</a:t>
            </a:r>
            <a:r>
              <a:rPr lang="en-US" sz="900" spc="-1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Model).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900" spc="-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few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</a:t>
            </a:r>
            <a:r>
              <a:rPr lang="en-US" sz="900" spc="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have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1:1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mapping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properties.</a:t>
            </a:r>
            <a:r>
              <a:rPr lang="en-US" sz="900" spc="3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Example: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id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Some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attributes</a:t>
            </a:r>
            <a:r>
              <a:rPr lang="en-US" sz="900" spc="3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don't</a:t>
            </a:r>
            <a:r>
              <a:rPr lang="en-US" sz="900" spc="-3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have</a:t>
            </a:r>
            <a:r>
              <a:rPr lang="en-US" sz="900" spc="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corresponding</a:t>
            </a:r>
            <a:r>
              <a:rPr lang="en-US" sz="900" spc="-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properties.</a:t>
            </a:r>
            <a:r>
              <a:rPr lang="en-US" sz="900" spc="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Example: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 err="1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colspan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Some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DOM</a:t>
            </a:r>
            <a:r>
              <a:rPr lang="en-US" sz="900" spc="-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</a:t>
            </a:r>
            <a:r>
              <a:rPr lang="en-US" sz="900" spc="3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don't</a:t>
            </a:r>
            <a:r>
              <a:rPr lang="en-US" sz="900" spc="-3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have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corresponding</a:t>
            </a:r>
            <a:r>
              <a:rPr lang="en-US" sz="900" spc="-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attributes.</a:t>
            </a:r>
            <a:r>
              <a:rPr lang="en-US" sz="900" spc="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Example: </a:t>
            </a:r>
            <a:r>
              <a:rPr lang="en-US" sz="900" dirty="0" err="1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innerHTML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2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of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z="900" spc="-1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might</a:t>
            </a:r>
            <a:r>
              <a:rPr lang="en-US" sz="900" spc="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change</a:t>
            </a:r>
            <a:r>
              <a:rPr lang="en-US" sz="900" spc="-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</a:t>
            </a:r>
            <a:r>
              <a:rPr lang="en-US" sz="900" spc="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runtime</a:t>
            </a:r>
            <a:r>
              <a:rPr lang="en-US" sz="900" spc="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but</a:t>
            </a:r>
            <a:r>
              <a:rPr lang="en-US" sz="900" spc="-1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</a:t>
            </a:r>
            <a:r>
              <a:rPr lang="en-US" sz="900" spc="2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doesn’t</a:t>
            </a:r>
            <a:r>
              <a:rPr lang="en-US" sz="900" spc="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change.</a:t>
            </a:r>
            <a:r>
              <a:rPr lang="en-US" sz="900" spc="-35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Example:</a:t>
            </a:r>
            <a:r>
              <a:rPr lang="en-US" sz="900" spc="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91BB4B6-FD02-492B-96B2-FDB1FE701BE4}"/>
              </a:ext>
            </a:extLst>
          </p:cNvPr>
          <p:cNvSpPr txBox="1"/>
          <p:nvPr/>
        </p:nvSpPr>
        <p:spPr>
          <a:xfrm>
            <a:off x="746919" y="1905814"/>
            <a:ext cx="4191000" cy="287899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6319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3195">
              <a:lnSpc>
                <a:spcPct val="100000"/>
              </a:lnSpc>
              <a:spcBef>
                <a:spcPts val="1285"/>
              </a:spcBef>
            </a:pP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Property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r>
              <a:rPr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deals</a:t>
            </a:r>
            <a:r>
              <a:rPr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DOM 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properties</a:t>
            </a:r>
            <a:r>
              <a:rPr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not</a:t>
            </a:r>
            <a:r>
              <a:rPr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</a:t>
            </a:r>
            <a:r>
              <a:rPr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5110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30" dirty="0">
                <a:latin typeface="Verdana" panose="020B0604030504040204" pitchFamily="34" charset="0"/>
                <a:ea typeface="Verdana" panose="020B0604030504040204" pitchFamily="34" charset="0"/>
              </a:rPr>
              <a:t>Attribute</a:t>
            </a:r>
            <a:r>
              <a:rPr lang="en-US" sz="1400" spc="-2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Binding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7173" y="433695"/>
            <a:ext cx="5234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Sets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directly.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Must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used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there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no</a:t>
            </a:r>
            <a:r>
              <a:rPr lang="en-US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syntax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resembles</a:t>
            </a:r>
            <a:r>
              <a:rPr lang="en-US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Start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prefix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b="1" spc="-1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,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followed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dot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(.)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of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attribute.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then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set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value, using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expression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resolves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string.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62B1C58-E11A-45F7-80C2-547D262C898E}"/>
              </a:ext>
            </a:extLst>
          </p:cNvPr>
          <p:cNvSpPr/>
          <p:nvPr/>
        </p:nvSpPr>
        <p:spPr>
          <a:xfrm>
            <a:off x="1280319" y="1634024"/>
            <a:ext cx="2743200" cy="307340"/>
          </a:xfrm>
          <a:custGeom>
            <a:avLst/>
            <a:gdLst/>
            <a:ahLst/>
            <a:cxnLst/>
            <a:rect l="l" t="t" r="r" b="b"/>
            <a:pathLst>
              <a:path w="5623559" h="861060">
                <a:moveTo>
                  <a:pt x="5623559" y="0"/>
                </a:moveTo>
                <a:lnTo>
                  <a:pt x="0" y="0"/>
                </a:lnTo>
                <a:lnTo>
                  <a:pt x="0" y="861060"/>
                </a:lnTo>
                <a:lnTo>
                  <a:pt x="5623559" y="861060"/>
                </a:lnTo>
                <a:lnTo>
                  <a:pt x="5623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&lt;td</a:t>
            </a:r>
            <a:r>
              <a:rPr lang="en-US" sz="1000" spc="-6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lang="en-US"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</a:t>
            </a:r>
            <a:r>
              <a:rPr lang="en-US" sz="1000" spc="-5" dirty="0" err="1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attr.colspan</a:t>
            </a:r>
            <a:r>
              <a:rPr lang="en-US"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]="</a:t>
            </a:r>
            <a:r>
              <a:rPr lang="en-US" sz="1000" spc="-5" dirty="0" err="1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noCols</a:t>
            </a:r>
            <a:r>
              <a:rPr lang="en-US"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"&gt;Value&lt;/td&gt;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F277409-5779-4234-8755-AFC03BF672CA}"/>
              </a:ext>
            </a:extLst>
          </p:cNvPr>
          <p:cNvSpPr/>
          <p:nvPr/>
        </p:nvSpPr>
        <p:spPr>
          <a:xfrm rot="21165165">
            <a:off x="2659584" y="1848738"/>
            <a:ext cx="84771" cy="434330"/>
          </a:xfrm>
          <a:custGeom>
            <a:avLst/>
            <a:gdLst/>
            <a:ahLst/>
            <a:cxnLst/>
            <a:rect l="l" t="t" r="r" b="b"/>
            <a:pathLst>
              <a:path w="169545" h="1275079">
                <a:moveTo>
                  <a:pt x="93470" y="112394"/>
                </a:moveTo>
                <a:lnTo>
                  <a:pt x="0" y="1271777"/>
                </a:lnTo>
                <a:lnTo>
                  <a:pt x="38100" y="1274825"/>
                </a:lnTo>
                <a:lnTo>
                  <a:pt x="131445" y="115443"/>
                </a:lnTo>
                <a:lnTo>
                  <a:pt x="93470" y="112394"/>
                </a:lnTo>
                <a:close/>
              </a:path>
              <a:path w="169545" h="1275079">
                <a:moveTo>
                  <a:pt x="159308" y="93471"/>
                </a:moveTo>
                <a:lnTo>
                  <a:pt x="94996" y="93471"/>
                </a:lnTo>
                <a:lnTo>
                  <a:pt x="132968" y="96519"/>
                </a:lnTo>
                <a:lnTo>
                  <a:pt x="131445" y="115443"/>
                </a:lnTo>
                <a:lnTo>
                  <a:pt x="169417" y="118490"/>
                </a:lnTo>
                <a:lnTo>
                  <a:pt x="159308" y="93471"/>
                </a:lnTo>
                <a:close/>
              </a:path>
              <a:path w="169545" h="1275079">
                <a:moveTo>
                  <a:pt x="94996" y="93471"/>
                </a:moveTo>
                <a:lnTo>
                  <a:pt x="93470" y="112394"/>
                </a:lnTo>
                <a:lnTo>
                  <a:pt x="131445" y="115443"/>
                </a:lnTo>
                <a:lnTo>
                  <a:pt x="132968" y="96519"/>
                </a:lnTo>
                <a:lnTo>
                  <a:pt x="94996" y="93471"/>
                </a:lnTo>
                <a:close/>
              </a:path>
              <a:path w="169545" h="1275079">
                <a:moveTo>
                  <a:pt x="121538" y="0"/>
                </a:moveTo>
                <a:lnTo>
                  <a:pt x="55499" y="109346"/>
                </a:lnTo>
                <a:lnTo>
                  <a:pt x="93470" y="112394"/>
                </a:lnTo>
                <a:lnTo>
                  <a:pt x="94996" y="93471"/>
                </a:lnTo>
                <a:lnTo>
                  <a:pt x="159308" y="93471"/>
                </a:lnTo>
                <a:lnTo>
                  <a:pt x="1215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9C2413-1780-4B46-B1AE-EE69EBF6D5BE}"/>
              </a:ext>
            </a:extLst>
          </p:cNvPr>
          <p:cNvSpPr/>
          <p:nvPr/>
        </p:nvSpPr>
        <p:spPr>
          <a:xfrm>
            <a:off x="2073662" y="2281057"/>
            <a:ext cx="156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pc="-6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12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66772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Class</a:t>
            </a:r>
            <a:r>
              <a:rPr lang="en-US" sz="1400" spc="-4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Binding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53B359-381E-4749-9B98-22A3C0264D84}"/>
              </a:ext>
            </a:extLst>
          </p:cNvPr>
          <p:cNvSpPr/>
          <p:nvPr/>
        </p:nvSpPr>
        <p:spPr>
          <a:xfrm>
            <a:off x="289560" y="418922"/>
            <a:ext cx="495315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removes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CSS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class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element's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z="800" b="1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syntax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resembles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Instead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between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brackets,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start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prefix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class,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optionally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followed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dot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(.) </a:t>
            </a:r>
            <a:r>
              <a:rPr lang="en-US" sz="800" spc="-4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 of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CSS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class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-</a:t>
            </a:r>
            <a:r>
              <a:rPr lang="en-US" sz="800" b="1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[</a:t>
            </a:r>
            <a:r>
              <a:rPr lang="en-US" sz="800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class.classname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].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marR="604520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class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evaluates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true.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removes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class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800" spc="-4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false.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b="1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NgClass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usually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preferred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managing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multiple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same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time.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02DB944-15D1-4E5E-B374-844F9B340435}"/>
              </a:ext>
            </a:extLst>
          </p:cNvPr>
          <p:cNvSpPr/>
          <p:nvPr/>
        </p:nvSpPr>
        <p:spPr>
          <a:xfrm>
            <a:off x="1127919" y="1546527"/>
            <a:ext cx="3700463" cy="378778"/>
          </a:xfrm>
          <a:custGeom>
            <a:avLst/>
            <a:gdLst/>
            <a:ahLst/>
            <a:cxnLst/>
            <a:rect l="l" t="t" r="r" b="b"/>
            <a:pathLst>
              <a:path w="6943725" h="757554">
                <a:moveTo>
                  <a:pt x="6943344" y="0"/>
                </a:moveTo>
                <a:lnTo>
                  <a:pt x="0" y="0"/>
                </a:lnTo>
                <a:lnTo>
                  <a:pt x="0" y="757428"/>
                </a:lnTo>
                <a:lnTo>
                  <a:pt x="6943344" y="757428"/>
                </a:lnTo>
                <a:lnTo>
                  <a:pt x="69433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32E91B-1E06-467F-9C28-2F7166D69922}"/>
              </a:ext>
            </a:extLst>
          </p:cNvPr>
          <p:cNvSpPr txBox="1"/>
          <p:nvPr/>
        </p:nvSpPr>
        <p:spPr>
          <a:xfrm>
            <a:off x="1508919" y="1667948"/>
            <a:ext cx="4567238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&lt;div</a:t>
            </a:r>
            <a:r>
              <a:rPr sz="800" spc="-4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[class.special]="isSpecial"&gt;Special</a:t>
            </a:r>
            <a:r>
              <a:rPr sz="800" spc="-3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Offer&lt;/div&gt;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9C809A3-F0B4-4C7A-8AE6-BBDEA7939272}"/>
              </a:ext>
            </a:extLst>
          </p:cNvPr>
          <p:cNvSpPr/>
          <p:nvPr/>
        </p:nvSpPr>
        <p:spPr>
          <a:xfrm rot="21292385">
            <a:off x="2761782" y="1837564"/>
            <a:ext cx="84772" cy="514607"/>
          </a:xfrm>
          <a:custGeom>
            <a:avLst/>
            <a:gdLst/>
            <a:ahLst/>
            <a:cxnLst/>
            <a:rect l="l" t="t" r="r" b="b"/>
            <a:pathLst>
              <a:path w="169545" h="1275079">
                <a:moveTo>
                  <a:pt x="93470" y="112394"/>
                </a:moveTo>
                <a:lnTo>
                  <a:pt x="0" y="1271790"/>
                </a:lnTo>
                <a:lnTo>
                  <a:pt x="38100" y="1274851"/>
                </a:lnTo>
                <a:lnTo>
                  <a:pt x="131445" y="115443"/>
                </a:lnTo>
                <a:lnTo>
                  <a:pt x="93470" y="112394"/>
                </a:lnTo>
                <a:close/>
              </a:path>
              <a:path w="169545" h="1275079">
                <a:moveTo>
                  <a:pt x="159308" y="93471"/>
                </a:moveTo>
                <a:lnTo>
                  <a:pt x="94996" y="93471"/>
                </a:lnTo>
                <a:lnTo>
                  <a:pt x="132969" y="96519"/>
                </a:lnTo>
                <a:lnTo>
                  <a:pt x="131445" y="115443"/>
                </a:lnTo>
                <a:lnTo>
                  <a:pt x="169418" y="118490"/>
                </a:lnTo>
                <a:lnTo>
                  <a:pt x="159308" y="93471"/>
                </a:lnTo>
                <a:close/>
              </a:path>
              <a:path w="169545" h="1275079">
                <a:moveTo>
                  <a:pt x="94996" y="93471"/>
                </a:moveTo>
                <a:lnTo>
                  <a:pt x="93470" y="112394"/>
                </a:lnTo>
                <a:lnTo>
                  <a:pt x="131445" y="115443"/>
                </a:lnTo>
                <a:lnTo>
                  <a:pt x="132969" y="96519"/>
                </a:lnTo>
                <a:lnTo>
                  <a:pt x="94996" y="93471"/>
                </a:lnTo>
                <a:close/>
              </a:path>
              <a:path w="169545" h="1275079">
                <a:moveTo>
                  <a:pt x="121538" y="0"/>
                </a:moveTo>
                <a:lnTo>
                  <a:pt x="55499" y="109346"/>
                </a:lnTo>
                <a:lnTo>
                  <a:pt x="93470" y="112394"/>
                </a:lnTo>
                <a:lnTo>
                  <a:pt x="94996" y="93471"/>
                </a:lnTo>
                <a:lnTo>
                  <a:pt x="159308" y="93471"/>
                </a:lnTo>
                <a:lnTo>
                  <a:pt x="1215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54CEB-3BF2-4842-83B9-847FE21A3DC6}"/>
              </a:ext>
            </a:extLst>
          </p:cNvPr>
          <p:cNvSpPr/>
          <p:nvPr/>
        </p:nvSpPr>
        <p:spPr>
          <a:xfrm>
            <a:off x="2153829" y="2354930"/>
            <a:ext cx="130067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800" b="1" spc="-7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57951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40" dirty="0">
                <a:latin typeface="Verdana" panose="020B0604030504040204" pitchFamily="34" charset="0"/>
                <a:ea typeface="Verdana" panose="020B0604030504040204" pitchFamily="34" charset="0"/>
              </a:rPr>
              <a:t>Style</a:t>
            </a:r>
            <a:r>
              <a:rPr lang="en-US" sz="1400" spc="-7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Binding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694" y="452526"/>
            <a:ext cx="5234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Sets inline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styles.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Instead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between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brackets,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start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prefix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style,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followed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dot (.)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</a:p>
          <a:p>
            <a:pPr marL="299085">
              <a:lnSpc>
                <a:spcPct val="100000"/>
              </a:lnSpc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CSS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property: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[</a:t>
            </a:r>
            <a:r>
              <a:rPr lang="en-US" sz="800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style.style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-property].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b="1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NgStyle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usually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preferred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when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setting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multiple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same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time.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8008422C-07F1-4751-BB3A-8951E9E5941F}"/>
              </a:ext>
            </a:extLst>
          </p:cNvPr>
          <p:cNvSpPr txBox="1"/>
          <p:nvPr/>
        </p:nvSpPr>
        <p:spPr>
          <a:xfrm>
            <a:off x="746920" y="1277994"/>
            <a:ext cx="4114800" cy="3712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90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5"/>
              </a:spcBef>
            </a:pP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&lt;button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[style.color]="isSpecial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?</a:t>
            </a:r>
            <a:r>
              <a:rPr sz="8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'red': 'green'"&gt;Show Details&lt;/button&gt;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0805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&lt;button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[style.background-color]="canSave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?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'cyan':</a:t>
            </a:r>
            <a:r>
              <a:rPr sz="8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'grey'"&gt;Save&lt;/button&gt;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79088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40" dirty="0">
                <a:latin typeface="Verdana" panose="020B0604030504040204" pitchFamily="34" charset="0"/>
                <a:ea typeface="Verdana" panose="020B0604030504040204" pitchFamily="34" charset="0"/>
              </a:rPr>
              <a:t>Event</a:t>
            </a:r>
            <a:r>
              <a:rPr lang="en-US" sz="1400" spc="-7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Binding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6754" y="433695"/>
            <a:ext cx="52343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binding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syntax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consists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target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within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parentheses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left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 equal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sign, and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</a:p>
          <a:p>
            <a:pPr marL="299085">
              <a:lnSpc>
                <a:spcPct val="100000"/>
              </a:lnSpc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quoted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right.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marR="980440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binding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conveys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information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about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event,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including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data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values,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through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 </a:t>
            </a:r>
            <a:r>
              <a:rPr lang="en-US" sz="800" spc="-434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named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$event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/>
              <a:buChar char=""/>
              <a:tabLst>
                <a:tab pos="35560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If the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name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fails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match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event,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Angular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reports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an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4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error.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5A64459-196A-45E8-B202-8E9A49028F70}"/>
              </a:ext>
            </a:extLst>
          </p:cNvPr>
          <p:cNvSpPr txBox="1"/>
          <p:nvPr/>
        </p:nvSpPr>
        <p:spPr>
          <a:xfrm>
            <a:off x="1051719" y="1407038"/>
            <a:ext cx="3081655" cy="484748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752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lnSpc>
                <a:spcPct val="100000"/>
              </a:lnSpc>
              <a:spcBef>
                <a:spcPts val="1380"/>
              </a:spcBef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&lt;button</a:t>
            </a:r>
            <a:r>
              <a:rPr sz="1000" spc="-4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(click)="onSave()"&gt;Save&lt;/button&gt;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&lt;button</a:t>
            </a:r>
            <a:r>
              <a:rPr sz="1000" spc="-7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on-click="onSave()"&gt;Save&lt;/button&gt;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2683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30" dirty="0">
                <a:latin typeface="Verdana" panose="020B0604030504040204" pitchFamily="34" charset="0"/>
                <a:ea typeface="Verdana" panose="020B0604030504040204" pitchFamily="34" charset="0"/>
              </a:rPr>
              <a:t>Attribute</a:t>
            </a:r>
            <a:r>
              <a:rPr lang="en-US" sz="1400" spc="-3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Directives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890" y="705485"/>
            <a:ext cx="52343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These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used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like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attributes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HTML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elements.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 modify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behavior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of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elements.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4EC951-EEC3-4ED1-A0B3-0CB09A78A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34755"/>
              </p:ext>
            </p:extLst>
          </p:nvPr>
        </p:nvGraphicFramePr>
        <p:xfrm>
          <a:off x="975520" y="1223496"/>
          <a:ext cx="3810000" cy="12715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46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0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ngClass</a:t>
                      </a:r>
                      <a:endParaRPr sz="10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Add</a:t>
                      </a:r>
                      <a:r>
                        <a:rPr sz="10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and</a:t>
                      </a:r>
                      <a:r>
                        <a:rPr sz="10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remove</a:t>
                      </a:r>
                      <a:r>
                        <a:rPr sz="10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</a:t>
                      </a:r>
                      <a:r>
                        <a:rPr sz="10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set of</a:t>
                      </a:r>
                      <a:r>
                        <a:rPr sz="10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CSS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classes</a:t>
                      </a:r>
                      <a:endParaRPr sz="10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46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ngStyle</a:t>
                      </a:r>
                      <a:endParaRPr sz="10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Add</a:t>
                      </a:r>
                      <a:r>
                        <a:rPr sz="10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and</a:t>
                      </a:r>
                      <a:r>
                        <a:rPr sz="10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remove</a:t>
                      </a:r>
                      <a:r>
                        <a:rPr sz="10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set of HTML styles</a:t>
                      </a:r>
                      <a:endParaRPr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46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ngModel</a:t>
                      </a:r>
                      <a:endParaRPr sz="10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0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Two-way</a:t>
                      </a:r>
                      <a:r>
                        <a:rPr sz="10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data</a:t>
                      </a:r>
                      <a:r>
                        <a:rPr sz="10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binding</a:t>
                      </a:r>
                      <a:r>
                        <a:rPr sz="10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to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an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HTML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form</a:t>
                      </a:r>
                      <a:r>
                        <a:rPr sz="10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element</a:t>
                      </a:r>
                      <a:endParaRPr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428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ngClass</a:t>
            </a:r>
            <a:r>
              <a:rPr lang="en-US" sz="1400" spc="-5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475610"/>
            <a:ext cx="523430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140" indent="-34607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8775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Used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or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remove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many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CSS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classes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same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time.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358140" indent="-346075">
              <a:lnSpc>
                <a:spcPct val="100000"/>
              </a:lnSpc>
              <a:buFont typeface="Wingdings" panose="05000000000000000000"/>
              <a:buChar char=""/>
              <a:tabLst>
                <a:tab pos="358775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ngClass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key:value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where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each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key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of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CSS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name;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its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true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if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</a:p>
          <a:p>
            <a:pPr marL="358140">
              <a:lnSpc>
                <a:spcPct val="100000"/>
              </a:lnSpc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should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added,</a:t>
            </a:r>
            <a:r>
              <a:rPr lang="en-US" sz="900" spc="-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false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if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should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removed.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2D8F9F7-C4D0-4689-AC8A-3A0179A871D1}"/>
              </a:ext>
            </a:extLst>
          </p:cNvPr>
          <p:cNvSpPr txBox="1"/>
          <p:nvPr/>
        </p:nvSpPr>
        <p:spPr>
          <a:xfrm>
            <a:off x="1364370" y="1171550"/>
            <a:ext cx="3009900" cy="3148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898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>
              <a:lnSpc>
                <a:spcPct val="100000"/>
              </a:lnSpc>
              <a:spcBef>
                <a:spcPts val="1495"/>
              </a:spcBef>
              <a:tabLst>
                <a:tab pos="3724910" algn="l"/>
                <a:tab pos="5605145" algn="l"/>
              </a:tabLst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currentClasses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=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{"special"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  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: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true,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"big"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 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:</a:t>
            </a:r>
            <a:r>
              <a:rPr sz="800" spc="-7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true};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F549270-7313-48FF-B90C-9011563AFB52}"/>
              </a:ext>
            </a:extLst>
          </p:cNvPr>
          <p:cNvSpPr txBox="1"/>
          <p:nvPr/>
        </p:nvSpPr>
        <p:spPr>
          <a:xfrm>
            <a:off x="1643769" y="1627072"/>
            <a:ext cx="2451101" cy="25327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98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5"/>
              </a:spcBef>
            </a:pPr>
            <a:endParaRPr sz="800" dirty="0">
              <a:latin typeface="Times New Roman" panose="02020603050405020304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800" spc="-5" dirty="0">
                <a:latin typeface="Consolas" panose="020B0609020204030204"/>
                <a:cs typeface="Consolas" panose="020B0609020204030204"/>
              </a:rPr>
              <a:t>&lt;div</a:t>
            </a:r>
            <a:r>
              <a:rPr sz="800" spc="-20" dirty="0">
                <a:latin typeface="Consolas" panose="020B0609020204030204"/>
                <a:cs typeface="Consolas" panose="020B0609020204030204"/>
              </a:rPr>
              <a:t> </a:t>
            </a:r>
            <a:r>
              <a:rPr sz="800" spc="-5" dirty="0">
                <a:latin typeface="Consolas" panose="020B0609020204030204"/>
                <a:cs typeface="Consolas" panose="020B0609020204030204"/>
              </a:rPr>
              <a:t>[ngClass]="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currentClasses</a:t>
            </a:r>
            <a:r>
              <a:rPr sz="800" spc="-5" dirty="0">
                <a:latin typeface="Consolas" panose="020B0609020204030204"/>
                <a:cs typeface="Consolas" panose="020B0609020204030204"/>
              </a:rPr>
              <a:t>"&gt;</a:t>
            </a:r>
            <a:r>
              <a:rPr sz="800" spc="-20" dirty="0">
                <a:latin typeface="Consolas" panose="020B0609020204030204"/>
                <a:cs typeface="Consolas" panose="020B0609020204030204"/>
              </a:rPr>
              <a:t> </a:t>
            </a:r>
            <a:r>
              <a:rPr sz="800" dirty="0">
                <a:latin typeface="Consolas" panose="020B0609020204030204"/>
                <a:cs typeface="Consolas" panose="020B0609020204030204"/>
              </a:rPr>
              <a:t>…</a:t>
            </a:r>
            <a:r>
              <a:rPr sz="800" spc="-30" dirty="0">
                <a:latin typeface="Consolas" panose="020B0609020204030204"/>
                <a:cs typeface="Consolas" panose="020B0609020204030204"/>
              </a:rPr>
              <a:t> </a:t>
            </a:r>
            <a:r>
              <a:rPr sz="800" spc="-5" dirty="0">
                <a:latin typeface="Consolas" panose="020B0609020204030204"/>
                <a:cs typeface="Consolas" panose="020B0609020204030204"/>
              </a:rPr>
              <a:t>&lt;/div&gt;</a:t>
            </a:r>
            <a:endParaRPr sz="800" dirty="0">
              <a:latin typeface="Consolas" panose="020B0609020204030204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99335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ngStyle</a:t>
            </a:r>
            <a:r>
              <a:rPr lang="en-US" sz="1600" spc="-5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6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</a:p>
          <a:p>
            <a:pPr algn="l"/>
            <a:endParaRPr lang="en-IN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464472"/>
            <a:ext cx="5234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140" indent="-34607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358775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Used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set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many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inline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same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time.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358140" indent="-346075">
              <a:lnSpc>
                <a:spcPct val="100000"/>
              </a:lnSpc>
              <a:buFont typeface="Wingdings" panose="05000000000000000000"/>
              <a:buChar char=""/>
              <a:tabLst>
                <a:tab pos="358775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Bind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ngStyle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1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key:value</a:t>
            </a:r>
            <a:r>
              <a:rPr lang="en-US" sz="800" b="1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control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where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each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key</a:t>
            </a:r>
            <a:r>
              <a:rPr lang="en-US" sz="800" b="1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object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z="8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whatever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358140">
              <a:lnSpc>
                <a:spcPct val="100000"/>
              </a:lnSpc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 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appropriate</a:t>
            </a:r>
            <a:r>
              <a:rPr lang="en-US" sz="800" b="1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</a:t>
            </a:r>
            <a:r>
              <a:rPr lang="en-US" sz="800" b="1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z="800" b="1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style.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D6DF5BB-6C92-49DB-ABFC-34A44B1315E5}"/>
              </a:ext>
            </a:extLst>
          </p:cNvPr>
          <p:cNvSpPr txBox="1"/>
          <p:nvPr/>
        </p:nvSpPr>
        <p:spPr>
          <a:xfrm>
            <a:off x="1356519" y="1064552"/>
            <a:ext cx="2874390" cy="3148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898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>
              <a:lnSpc>
                <a:spcPct val="100000"/>
              </a:lnSpc>
              <a:spcBef>
                <a:spcPts val="1495"/>
              </a:spcBef>
              <a:tabLst>
                <a:tab pos="2847340" algn="l"/>
                <a:tab pos="5606415" algn="l"/>
              </a:tabLst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brightRed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=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{"color"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: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"red", "font-size"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:</a:t>
            </a:r>
            <a:r>
              <a:rPr sz="800" spc="-6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"30pt"};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5AFB2B5-367D-4E05-9676-795C2745F621}"/>
              </a:ext>
            </a:extLst>
          </p:cNvPr>
          <p:cNvSpPr txBox="1"/>
          <p:nvPr/>
        </p:nvSpPr>
        <p:spPr>
          <a:xfrm>
            <a:off x="1356519" y="1510828"/>
            <a:ext cx="2874390" cy="25327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98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5"/>
              </a:spcBef>
            </a:pP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&lt;div</a:t>
            </a:r>
            <a:r>
              <a:rPr sz="800" spc="-2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[ngStyle]="brightRed"&gt;Some</a:t>
            </a:r>
            <a:r>
              <a:rPr sz="800" spc="-2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Text</a:t>
            </a:r>
            <a:r>
              <a:rPr sz="800" spc="-2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Here!&lt;/div&gt;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31320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2890" y="705485"/>
            <a:ext cx="5234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These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directives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responsible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HTML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layout.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typically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add,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remove,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manipulate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host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elements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which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they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attached.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22E65-615C-47E5-BD5A-FFBAC34D7707}"/>
              </a:ext>
            </a:extLst>
          </p:cNvPr>
          <p:cNvSpPr txBox="1"/>
          <p:nvPr/>
        </p:nvSpPr>
        <p:spPr>
          <a:xfrm>
            <a:off x="289719" y="248444"/>
            <a:ext cx="1985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-20" dirty="0">
                <a:latin typeface="Verdana" panose="020B0604030504040204" pitchFamily="34" charset="0"/>
                <a:ea typeface="Verdana" panose="020B0604030504040204" pitchFamily="34" charset="0"/>
              </a:rPr>
              <a:t>Structural</a:t>
            </a:r>
            <a:r>
              <a:rPr lang="en-US" sz="14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Directives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1CD20B-5085-4952-AFB3-79E1E0E8F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27555"/>
              </p:ext>
            </p:extLst>
          </p:nvPr>
        </p:nvGraphicFramePr>
        <p:xfrm>
          <a:off x="518319" y="1402076"/>
          <a:ext cx="4632171" cy="972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9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2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94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ngIf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Conditionally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adds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or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removes</a:t>
                      </a:r>
                      <a:r>
                        <a:rPr sz="900" spc="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an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element</a:t>
                      </a:r>
                      <a:r>
                        <a:rPr sz="900" spc="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from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DOM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53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b="1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ngFor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Repeats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template</a:t>
                      </a:r>
                      <a:r>
                        <a:rPr sz="900" spc="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for</a:t>
                      </a:r>
                      <a:r>
                        <a:rPr sz="9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each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</a:t>
                      </a:r>
                      <a:r>
                        <a:rPr sz="9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the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list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7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b="1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ngSwitch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Adds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one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element</a:t>
                      </a:r>
                      <a:r>
                        <a:rPr sz="9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from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set</a:t>
                      </a:r>
                      <a:r>
                        <a:rPr sz="9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of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possible</a:t>
                      </a:r>
                      <a:r>
                        <a:rPr sz="9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elements</a:t>
                      </a:r>
                      <a:r>
                        <a:rPr sz="900" spc="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based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on</a:t>
                      </a:r>
                      <a:endParaRPr sz="9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condition.</a:t>
                      </a:r>
                      <a:r>
                        <a:rPr sz="9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Used</a:t>
                      </a:r>
                      <a:r>
                        <a:rPr sz="900" spc="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with</a:t>
                      </a:r>
                      <a:r>
                        <a:rPr sz="9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b="1" i="1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ngSwitchCase</a:t>
                      </a:r>
                      <a:r>
                        <a:rPr sz="900" b="1" i="1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and </a:t>
                      </a:r>
                      <a:r>
                        <a:rPr sz="900" b="1" i="1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ngSwitchDefault</a:t>
                      </a:r>
                      <a:endParaRPr sz="9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612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ngIf</a:t>
            </a:r>
            <a:r>
              <a:rPr lang="en-US" sz="1400" spc="-7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</a:p>
          <a:p>
            <a:pPr algn="l"/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9560" y="467716"/>
            <a:ext cx="5234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Conditionally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adds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removes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DOM.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Adding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removing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DOM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elements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different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displaying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hiding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possible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have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if</a:t>
            </a:r>
            <a:r>
              <a:rPr lang="en-US" sz="9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then</a:t>
            </a:r>
            <a:r>
              <a:rPr lang="en-US" sz="9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else</a:t>
            </a:r>
            <a:r>
              <a:rPr lang="en-US" sz="900" b="1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structure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true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block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false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block using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ng-template.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6D192F3-B950-45B2-A823-75BAF4E64472}"/>
              </a:ext>
            </a:extLst>
          </p:cNvPr>
          <p:cNvSpPr txBox="1"/>
          <p:nvPr/>
        </p:nvSpPr>
        <p:spPr>
          <a:xfrm>
            <a:off x="387834" y="1238439"/>
            <a:ext cx="4985369" cy="246862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"/>
              </a:spcBef>
            </a:pP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/>
            </a:endParaRPr>
          </a:p>
          <a:p>
            <a:pPr marL="92075">
              <a:lnSpc>
                <a:spcPct val="100000"/>
              </a:lnSpc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&lt;div *ngIf="condition"&gt;Add Div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to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DOM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when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condition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is</a:t>
            </a:r>
            <a:r>
              <a:rPr sz="800" spc="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true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&lt;/div&gt;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BDA2D8A-434C-4AC2-9CED-676473878B53}"/>
              </a:ext>
            </a:extLst>
          </p:cNvPr>
          <p:cNvSpPr txBox="1"/>
          <p:nvPr/>
        </p:nvSpPr>
        <p:spPr>
          <a:xfrm>
            <a:off x="387834" y="1485301"/>
            <a:ext cx="4985369" cy="42447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7653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lnSpc>
                <a:spcPct val="100000"/>
              </a:lnSpc>
              <a:spcBef>
                <a:spcPts val="1390"/>
              </a:spcBef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&lt;div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*ngIf="condition;</a:t>
            </a:r>
            <a:r>
              <a:rPr sz="800" spc="-2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else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falseBlock"&gt;True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Block&lt;/div&gt;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  <a:tabLst>
                <a:tab pos="1845310" algn="l"/>
              </a:tabLst>
            </a:pP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&lt;ng-template	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#falseBlock&gt;&lt;div&gt;False</a:t>
            </a:r>
            <a:r>
              <a:rPr sz="800" spc="-4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Block&lt;/div&gt;&lt;/ng-template&gt;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CD57E3C-AF6F-429C-A1AA-0365BA3921FF}"/>
              </a:ext>
            </a:extLst>
          </p:cNvPr>
          <p:cNvSpPr txBox="1"/>
          <p:nvPr/>
        </p:nvSpPr>
        <p:spPr>
          <a:xfrm>
            <a:off x="387833" y="1901649"/>
            <a:ext cx="4985369" cy="561692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905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>
              <a:lnSpc>
                <a:spcPct val="100000"/>
              </a:lnSpc>
              <a:spcBef>
                <a:spcPts val="1500"/>
              </a:spcBef>
            </a:pP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&lt;div *ngIf="condition;</a:t>
            </a:r>
            <a:r>
              <a:rPr sz="8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then</a:t>
            </a: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trueBlock;</a:t>
            </a:r>
            <a:r>
              <a:rPr sz="8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else</a:t>
            </a:r>
            <a:r>
              <a:rPr sz="8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falseBlock"&gt;&lt;/div&gt;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  <a:tabLst>
                <a:tab pos="1845310" algn="l"/>
              </a:tabLst>
            </a:pP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&lt;ng-template	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#trueBlock&gt;&lt;div&gt;True</a:t>
            </a:r>
            <a:r>
              <a:rPr sz="800" spc="-2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Block&lt;/div&gt;&lt;/ng-template&gt;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2075">
              <a:lnSpc>
                <a:spcPct val="100000"/>
              </a:lnSpc>
              <a:tabLst>
                <a:tab pos="1845310" algn="l"/>
              </a:tabLst>
            </a:pPr>
            <a:r>
              <a:rPr sz="8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&lt;ng-template	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#falseBlock&gt;&lt;div&gt;False</a:t>
            </a:r>
            <a:r>
              <a:rPr sz="800" spc="-2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Block&lt;/div&gt;&lt;/ng-template&gt;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1585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5" dirty="0" err="1">
                <a:latin typeface="Verdana" panose="020B0604030504040204" pitchFamily="34" charset="0"/>
                <a:ea typeface="Verdana" panose="020B0604030504040204" pitchFamily="34" charset="0"/>
              </a:rPr>
              <a:t>ngFor</a:t>
            </a:r>
            <a:r>
              <a:rPr lang="en-US" sz="1400" spc="-6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3366" y="475610"/>
            <a:ext cx="523430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Repeats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each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item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 the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given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list.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NgFor</a:t>
            </a:r>
            <a:r>
              <a:rPr lang="en-US" sz="9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repeater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—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way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present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list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items.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block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of HTML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how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900" spc="-4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single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item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should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displayed.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provides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some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exported</a:t>
            </a:r>
            <a:r>
              <a:rPr lang="en-US" sz="9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values</a:t>
            </a:r>
            <a:r>
              <a:rPr lang="en-US" sz="900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can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assigned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local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variables.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0F2EDD-27D2-4A15-B7F2-5C8593308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853118"/>
              </p:ext>
            </p:extLst>
          </p:nvPr>
        </p:nvGraphicFramePr>
        <p:xfrm>
          <a:off x="708818" y="1158356"/>
          <a:ext cx="4343400" cy="13707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0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68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b="1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index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The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index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of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the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current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the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list.</a:t>
                      </a:r>
                      <a:r>
                        <a:rPr sz="9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is a number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9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b="1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first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True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if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is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first</a:t>
                      </a:r>
                      <a:r>
                        <a:rPr sz="900" spc="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the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list</a:t>
                      </a:r>
                      <a:endParaRPr sz="9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9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b="1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last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True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if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</a:t>
                      </a:r>
                      <a:r>
                        <a:rPr sz="9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is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last</a:t>
                      </a:r>
                      <a:r>
                        <a:rPr sz="900" spc="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in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the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list</a:t>
                      </a:r>
                      <a:endParaRPr sz="9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98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b="1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even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True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if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item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has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even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index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74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odd</a:t>
                      </a:r>
                      <a:endParaRPr sz="90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True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if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item has</a:t>
                      </a:r>
                      <a:r>
                        <a:rPr sz="9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odd</a:t>
                      </a:r>
                      <a:r>
                        <a:rPr sz="9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 </a:t>
                      </a:r>
                      <a:r>
                        <a:rPr sz="9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/>
                        </a:rPr>
                        <a:t>index</a:t>
                      </a:r>
                      <a:endParaRPr sz="900" dirty="0"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023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5" dirty="0" err="1">
                <a:latin typeface="Verdana" panose="020B0604030504040204" pitchFamily="34" charset="0"/>
                <a:ea typeface="Verdana" panose="020B0604030504040204" pitchFamily="34" charset="0"/>
              </a:rPr>
              <a:t>ngFor</a:t>
            </a:r>
            <a:r>
              <a:rPr lang="en-US" sz="1400" spc="-6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F2D6EFF-6352-4DD6-A23C-069BF6CD5B9D}"/>
              </a:ext>
            </a:extLst>
          </p:cNvPr>
          <p:cNvSpPr txBox="1"/>
          <p:nvPr/>
        </p:nvSpPr>
        <p:spPr>
          <a:xfrm>
            <a:off x="198279" y="695305"/>
            <a:ext cx="5364480" cy="108363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635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/>
            </a:endParaRPr>
          </a:p>
          <a:p>
            <a:pPr marL="90805">
              <a:lnSpc>
                <a:spcPct val="100000"/>
              </a:lnSpc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&lt;div *ngFor="let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topic</a:t>
            </a:r>
            <a:r>
              <a:rPr sz="10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of</a:t>
            </a:r>
            <a:r>
              <a:rPr sz="10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topics;</a:t>
            </a:r>
            <a:r>
              <a:rPr sz="10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let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i=index;</a:t>
            </a:r>
            <a:r>
              <a:rPr sz="1000" spc="-1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let</a:t>
            </a:r>
            <a:r>
              <a:rPr sz="10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first=first;let</a:t>
            </a:r>
            <a:r>
              <a:rPr sz="10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oddRow=odd"&gt;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1094105">
              <a:lnSpc>
                <a:spcPct val="100000"/>
              </a:lnSpc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&lt;h2</a:t>
            </a:r>
            <a:r>
              <a:rPr sz="1000" spc="-2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*ngIf="first"&gt;List</a:t>
            </a:r>
            <a:r>
              <a:rPr sz="1000" spc="-3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Of</a:t>
            </a:r>
            <a:r>
              <a:rPr sz="1000" spc="-3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Topics&lt;/h2&gt;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1094105">
              <a:lnSpc>
                <a:spcPct val="100000"/>
              </a:lnSpc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&lt;span</a:t>
            </a:r>
            <a:r>
              <a:rPr sz="1000" spc="-7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[class.red]="oddRow"&gt;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1720215">
              <a:lnSpc>
                <a:spcPct val="100000"/>
              </a:lnSpc>
            </a:pPr>
            <a:r>
              <a:rPr sz="10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{{i 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+</a:t>
            </a:r>
            <a:r>
              <a:rPr sz="1000" spc="-2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1}}</a:t>
            </a:r>
            <a:r>
              <a:rPr sz="1000" spc="-2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-</a:t>
            </a:r>
            <a:r>
              <a:rPr sz="1000" spc="-1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{{topic}}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1094105">
              <a:lnSpc>
                <a:spcPct val="100000"/>
              </a:lnSpc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&lt;/span&gt;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  <a:p>
            <a:pPr marL="90805">
              <a:lnSpc>
                <a:spcPct val="100000"/>
              </a:lnSpc>
            </a:pPr>
            <a:r>
              <a:rPr sz="1000" spc="-5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&lt;/div&gt;</a:t>
            </a:r>
            <a:endParaRPr sz="10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24126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20" dirty="0" err="1">
                <a:latin typeface="Verdana" panose="020B0604030504040204" pitchFamily="34" charset="0"/>
                <a:ea typeface="Verdana" panose="020B0604030504040204" pitchFamily="34" charset="0"/>
              </a:rPr>
              <a:t>ngSwitch</a:t>
            </a:r>
            <a:r>
              <a:rPr lang="en-US" sz="1400" spc="-5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Directive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3366" y="475610"/>
            <a:ext cx="523430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like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JavaScript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switch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statement.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can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display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from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among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several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possible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elements,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based on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switch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condition.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puts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only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selected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into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DOM.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NgSwitch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actually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set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three,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cooperating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directives:</a:t>
            </a:r>
            <a:r>
              <a:rPr lang="en-US" sz="900" spc="4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1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NgSwitch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,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1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NgSwitchCase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,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b="1" spc="-1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NgSwitchDefault</a:t>
            </a:r>
            <a:r>
              <a:rPr lang="en-US" sz="900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4F324F-B561-4BA6-8697-2313579F54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69" t="45295" r="36774" b="35885"/>
          <a:stretch/>
        </p:blipFill>
        <p:spPr>
          <a:xfrm>
            <a:off x="955956" y="1310049"/>
            <a:ext cx="3849126" cy="10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896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60" dirty="0">
                <a:latin typeface="Verdana" panose="020B0604030504040204" pitchFamily="34" charset="0"/>
                <a:ea typeface="Verdana" panose="020B0604030504040204" pitchFamily="34" charset="0"/>
              </a:rPr>
              <a:t>Template</a:t>
            </a:r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30" dirty="0">
                <a:latin typeface="Verdana" panose="020B0604030504040204" pitchFamily="34" charset="0"/>
                <a:ea typeface="Verdana" panose="020B0604030504040204" pitchFamily="34" charset="0"/>
              </a:rPr>
              <a:t>Reference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35" dirty="0">
                <a:latin typeface="Verdana" panose="020B0604030504040204" pitchFamily="34" charset="0"/>
                <a:ea typeface="Verdana" panose="020B0604030504040204" pitchFamily="34" charset="0"/>
              </a:rPr>
              <a:t>Variable</a:t>
            </a:r>
            <a:r>
              <a:rPr lang="en-US" sz="1400" spc="1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(#var)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3366" y="475610"/>
            <a:ext cx="52343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variable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often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DOM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within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can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also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z="8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 Angular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component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directive.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hash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symbol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(#)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declare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variable.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variable</a:t>
            </a:r>
            <a:r>
              <a:rPr lang="en-US" sz="8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anywhere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scope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reference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variable</a:t>
            </a:r>
            <a:r>
              <a:rPr lang="en-US" sz="8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8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i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entire</a:t>
            </a:r>
            <a:r>
              <a:rPr lang="en-US" sz="800" i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i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800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z="8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ref- prefix alternative</a:t>
            </a:r>
            <a:r>
              <a:rPr lang="en-US" sz="8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8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8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#.</a:t>
            </a:r>
            <a:endParaRPr lang="en-US" sz="8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endParaRPr lang="en-I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7C670-4059-4D3F-8919-9D727D10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577" y="1467644"/>
            <a:ext cx="3352800" cy="116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00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Pipes</a:t>
            </a:r>
          </a:p>
          <a:p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AF6BBA-043D-46D4-8FBF-55D91EDD01C5}"/>
              </a:ext>
            </a:extLst>
          </p:cNvPr>
          <p:cNvSpPr/>
          <p:nvPr/>
        </p:nvSpPr>
        <p:spPr>
          <a:xfrm>
            <a:off x="289560" y="400530"/>
            <a:ext cx="37339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pipe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takes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data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input and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transforms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required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output.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Angular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provides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built-in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pipes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many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common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requirements.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Pipes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are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used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Pipes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also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take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optional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parameters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fine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tune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output.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9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parameters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pipe,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pipe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name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colon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: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)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then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parameter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(such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currency</a:t>
            </a:r>
            <a:r>
              <a:rPr lang="en-US" sz="900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: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'EUR').</a:t>
            </a: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If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accepts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multiple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parameters,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separate</a:t>
            </a:r>
            <a:r>
              <a:rPr lang="en-US" sz="900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values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colons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(such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as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slice:1:5).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can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chain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together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so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output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one pipe goes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another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z="900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input.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8DC98-F2F6-490D-A10B-CA5471FC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694" y="461490"/>
            <a:ext cx="13049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513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lang="en-US" sz="1400" spc="-50" dirty="0" err="1"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lang="en-US" sz="1400" spc="-60" dirty="0" err="1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n-US" sz="14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ePipe</a:t>
            </a:r>
            <a:endParaRPr lang="en-US" sz="1400" spc="-1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085B3-9772-4DD6-BDBE-6B2CEDB297D5}"/>
              </a:ext>
            </a:extLst>
          </p:cNvPr>
          <p:cNvSpPr/>
          <p:nvPr/>
        </p:nvSpPr>
        <p:spPr>
          <a:xfrm>
            <a:off x="289560" y="449084"/>
            <a:ext cx="282417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Formats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date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according</a:t>
            </a:r>
            <a:r>
              <a:rPr lang="en-US" sz="900" spc="-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locale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rules.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8BCB51B-C216-4FFF-A94F-900E530201A5}"/>
              </a:ext>
            </a:extLst>
          </p:cNvPr>
          <p:cNvSpPr txBox="1"/>
          <p:nvPr/>
        </p:nvSpPr>
        <p:spPr>
          <a:xfrm>
            <a:off x="704181" y="644984"/>
            <a:ext cx="2280920" cy="291105"/>
          </a:xfrm>
          <a:prstGeom prst="rect">
            <a:avLst/>
          </a:prstGeom>
          <a:solidFill>
            <a:srgbClr val="F1F1F1"/>
          </a:solidFill>
          <a:ln w="12700">
            <a:solidFill>
              <a:srgbClr val="41709C"/>
            </a:solidFill>
          </a:ln>
        </p:spPr>
        <p:txBody>
          <a:bodyPr vert="horz" wrap="square" lIns="0" tIns="16637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460" algn="ctr">
              <a:lnSpc>
                <a:spcPct val="100000"/>
              </a:lnSpc>
              <a:spcBef>
                <a:spcPts val="1310"/>
              </a:spcBef>
            </a:pPr>
            <a:r>
              <a:rPr sz="800" b="1" spc="-5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date_expression</a:t>
            </a:r>
            <a:r>
              <a:rPr sz="800" b="1" spc="-25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b="1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|</a:t>
            </a:r>
            <a:r>
              <a:rPr sz="800" b="1" spc="-30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b="1" spc="-5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date</a:t>
            </a:r>
            <a:r>
              <a:rPr sz="800" b="1" spc="-10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 </a:t>
            </a:r>
            <a:r>
              <a:rPr sz="800" b="1" spc="-5" dirty="0">
                <a:solidFill>
                  <a:srgbClr val="006FC0"/>
                </a:solidFill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/>
              </a:rPr>
              <a:t>[:format]</a:t>
            </a:r>
            <a:endParaRPr sz="800" dirty="0">
              <a:latin typeface="Verdana" panose="020B0604030504040204" pitchFamily="34" charset="0"/>
              <a:ea typeface="Verdana" panose="020B0604030504040204" pitchFamily="34" charset="0"/>
              <a:cs typeface="Consolas" panose="020B0609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937F2E-F9CD-4D4B-9AAB-C7ADDD93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1" y="991273"/>
            <a:ext cx="3284863" cy="1604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EE0DDD-DF7F-4764-A3FB-07FFE4E7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506" y="381651"/>
            <a:ext cx="1655597" cy="197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8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20" dirty="0" err="1">
                <a:latin typeface="Verdana" panose="020B0604030504040204" pitchFamily="34" charset="0"/>
                <a:ea typeface="Verdana" panose="020B0604030504040204" pitchFamily="34" charset="0"/>
              </a:rPr>
              <a:t>DatePipe</a:t>
            </a:r>
            <a:r>
              <a:rPr lang="en-US" sz="1400" spc="5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5" dirty="0"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en-US" sz="1400" spc="-15" dirty="0">
                <a:latin typeface="Verdana" panose="020B0604030504040204" pitchFamily="34" charset="0"/>
                <a:ea typeface="Verdana" panose="020B0604030504040204" pitchFamily="34" charset="0"/>
              </a:rPr>
              <a:t> Example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40253-9892-4150-ACAE-B27B81A75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83" y="850763"/>
            <a:ext cx="5497671" cy="98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62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DecimalPipe</a:t>
            </a:r>
            <a:endParaRPr lang="en-US" sz="1400" spc="-1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CC10A-61B2-4FF2-A8D4-6E979DA88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130" y="553244"/>
            <a:ext cx="3601989" cy="7843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A5DFEA-00DC-46E9-9E78-2E60C01D660A}"/>
              </a:ext>
            </a:extLst>
          </p:cNvPr>
          <p:cNvSpPr/>
          <p:nvPr/>
        </p:nvSpPr>
        <p:spPr>
          <a:xfrm>
            <a:off x="365919" y="1384837"/>
            <a:ext cx="53897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900" b="1" spc="-1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minIntegerDigits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 the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minimum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number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integer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digits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use.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Defaults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1.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900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minFractionDigits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minimum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number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digits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after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fraction.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Defaults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0.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900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maxFractionDigits</a:t>
            </a:r>
            <a:endParaRPr lang="en-US" sz="900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 the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maximum</a:t>
            </a:r>
            <a:r>
              <a:rPr lang="en-US" sz="900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number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digits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after</a:t>
            </a:r>
            <a:r>
              <a:rPr lang="en-US" sz="900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fraction.</a:t>
            </a:r>
            <a:r>
              <a:rPr lang="en-US" sz="900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Defaults</a:t>
            </a:r>
            <a:r>
              <a:rPr lang="en-US" sz="900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z="900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z="90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773478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5" dirty="0" err="1">
                <a:latin typeface="Verdana" panose="020B0604030504040204" pitchFamily="34" charset="0"/>
                <a:ea typeface="Verdana" panose="020B0604030504040204" pitchFamily="34" charset="0"/>
              </a:rPr>
              <a:t>CurrencyPipe</a:t>
            </a:r>
            <a:endParaRPr lang="en-US" sz="1400" spc="-15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C18080-C01A-4FFF-805A-FDAB1EA294B1}"/>
              </a:ext>
            </a:extLst>
          </p:cNvPr>
          <p:cNvSpPr/>
          <p:nvPr/>
        </p:nvSpPr>
        <p:spPr>
          <a:xfrm>
            <a:off x="300983" y="504324"/>
            <a:ext cx="287972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Formats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number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currency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using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locale rules.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D88CB-2446-4D60-92B8-D60926BFF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83" y="977821"/>
            <a:ext cx="5166519" cy="3498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4384A6-31D0-48E4-A5EE-6732294BA3C1}"/>
              </a:ext>
            </a:extLst>
          </p:cNvPr>
          <p:cNvSpPr/>
          <p:nvPr/>
        </p:nvSpPr>
        <p:spPr>
          <a:xfrm>
            <a:off x="315719" y="1335477"/>
            <a:ext cx="516651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currencyCode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currency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code,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such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USD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</a:t>
            </a:r>
            <a:r>
              <a:rPr lang="en-US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US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dollar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EUR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euro.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b="1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symbolDisplay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boolean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indicating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whether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use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the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currency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symbol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or code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-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true: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 symbol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(e.g.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$), </a:t>
            </a:r>
            <a:r>
              <a:rPr lang="en-US" spc="-44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false(default):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 code</a:t>
            </a:r>
            <a:r>
              <a:rPr lang="en-US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(e.g. USD).</a:t>
            </a:r>
          </a:p>
        </p:txBody>
      </p:sp>
    </p:spTree>
    <p:extLst>
      <p:ext uri="{BB962C8B-B14F-4D97-AF65-F5344CB8AC3E}">
        <p14:creationId xmlns:p14="http://schemas.microsoft.com/office/powerpoint/2010/main" val="3170775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20" dirty="0" err="1">
                <a:latin typeface="Verdana" panose="020B0604030504040204" pitchFamily="34" charset="0"/>
                <a:ea typeface="Verdana" panose="020B0604030504040204" pitchFamily="34" charset="0"/>
              </a:rPr>
              <a:t>PercentPipe</a:t>
            </a:r>
            <a:endParaRPr lang="en-US" sz="1400" spc="-2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09F77-F8D2-481C-8642-22A9D54E4EFB}"/>
              </a:ext>
            </a:extLst>
          </p:cNvPr>
          <p:cNvSpPr/>
          <p:nvPr/>
        </p:nvSpPr>
        <p:spPr>
          <a:xfrm>
            <a:off x="321524" y="477044"/>
            <a:ext cx="2777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Formats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number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as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percentage.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83847-D9C8-48A7-881D-83C7323CC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7" y="667441"/>
            <a:ext cx="4614863" cy="186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0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5" dirty="0" err="1">
                <a:latin typeface="Verdana" panose="020B0604030504040204" pitchFamily="34" charset="0"/>
                <a:ea typeface="Verdana" panose="020B0604030504040204" pitchFamily="34" charset="0"/>
              </a:rPr>
              <a:t>SlicePipe</a:t>
            </a:r>
            <a:endParaRPr lang="en-US" sz="1400" spc="-5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B6E4AF-BF00-404B-B00B-FC102F5B2F07}"/>
              </a:ext>
            </a:extLst>
          </p:cNvPr>
          <p:cNvSpPr/>
          <p:nvPr/>
        </p:nvSpPr>
        <p:spPr>
          <a:xfrm>
            <a:off x="289560" y="504324"/>
            <a:ext cx="48769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Creates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new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List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or String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containing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subset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(slice)</a:t>
            </a:r>
            <a:r>
              <a:rPr lang="en-US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elements.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F830E-415E-456F-B7EE-E9233FC93BFF}"/>
              </a:ext>
            </a:extLst>
          </p:cNvPr>
          <p:cNvSpPr/>
          <p:nvPr/>
        </p:nvSpPr>
        <p:spPr>
          <a:xfrm>
            <a:off x="1439863" y="1188363"/>
            <a:ext cx="2879725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start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starting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index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subset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return.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end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ending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index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subset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return.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08076-3440-4F82-89EA-C8E660A9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00" y="845395"/>
            <a:ext cx="4247515" cy="409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BFC06C-05DE-4917-A08F-20DA9DD7B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319" y="2016932"/>
            <a:ext cx="1814513" cy="6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23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20" dirty="0">
                <a:latin typeface="Verdana" panose="020B0604030504040204" pitchFamily="34" charset="0"/>
                <a:ea typeface="Verdana" panose="020B0604030504040204" pitchFamily="34" charset="0"/>
              </a:rPr>
              <a:t>Custom</a:t>
            </a:r>
            <a:r>
              <a:rPr lang="en-US" sz="1400" spc="-6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spc="-10" dirty="0">
                <a:latin typeface="Verdana" panose="020B0604030504040204" pitchFamily="34" charset="0"/>
                <a:ea typeface="Verdana" panose="020B0604030504040204" pitchFamily="34" charset="0"/>
              </a:rPr>
              <a:t>Pipes</a:t>
            </a: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06107-9A62-4D37-AD72-DD31E50AE6A7}"/>
              </a:ext>
            </a:extLst>
          </p:cNvPr>
          <p:cNvSpPr/>
          <p:nvPr/>
        </p:nvSpPr>
        <p:spPr>
          <a:xfrm>
            <a:off x="289561" y="477044"/>
            <a:ext cx="518191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Create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class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@</a:t>
            </a:r>
            <a:r>
              <a:rPr lang="en-US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 </a:t>
            </a:r>
            <a:r>
              <a:rPr lang="en-US" spc="-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decorator.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marR="31750" indent="-28702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class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implements</a:t>
            </a:r>
            <a:r>
              <a:rPr lang="en-US" spc="6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b="1" spc="-20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PipeTransform</a:t>
            </a:r>
            <a:r>
              <a:rPr lang="en-US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interface's</a:t>
            </a:r>
            <a:r>
              <a:rPr lang="en-US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transform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method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accepts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input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followed </a:t>
            </a:r>
            <a:r>
              <a:rPr lang="en-US" spc="-434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by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optional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parameters</a:t>
            </a:r>
            <a:r>
              <a:rPr lang="en-US" spc="3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and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returns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transformed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value.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There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will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one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additional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argument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transform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method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for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each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parameter</a:t>
            </a:r>
            <a:r>
              <a:rPr lang="en-US" spc="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passed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b="1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@Pipe</a:t>
            </a:r>
            <a:r>
              <a:rPr lang="en-US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decorator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allows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to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define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 name</a:t>
            </a:r>
            <a:r>
              <a:rPr lang="en-US" b="1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that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you'll</a:t>
            </a:r>
            <a:r>
              <a:rPr lang="en-US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use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within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template</a:t>
            </a:r>
            <a:r>
              <a:rPr lang="en-US" spc="3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expressions.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It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must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be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valid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JavaScript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2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identifier.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Wingdings" panose="05000000000000000000"/>
              <a:buChar char=""/>
              <a:tabLst>
                <a:tab pos="299720" algn="l"/>
              </a:tabLst>
            </a:pPr>
            <a:r>
              <a:rPr lang="en-US" spc="-5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</a:t>
            </a:r>
            <a:r>
              <a:rPr lang="en-US" spc="-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must</a:t>
            </a:r>
            <a:r>
              <a:rPr lang="en-US" spc="1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include 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your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pipe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in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b="1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declarations</a:t>
            </a:r>
            <a:r>
              <a:rPr lang="en-US" b="1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2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array</a:t>
            </a:r>
            <a:r>
              <a:rPr lang="en-US" spc="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spc="-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of</a:t>
            </a:r>
            <a:r>
              <a:rPr lang="en-US" spc="-10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the</a:t>
            </a:r>
            <a:r>
              <a:rPr lang="en-US" spc="5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AppModule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5021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25" dirty="0" err="1">
                <a:latin typeface="Verdana" panose="020B0604030504040204" pitchFamily="34" charset="0"/>
                <a:ea typeface="Verdana" panose="020B0604030504040204" pitchFamily="34" charset="0"/>
              </a:rPr>
              <a:t>brackets.pipe.ts</a:t>
            </a:r>
            <a:endParaRPr lang="en-US" sz="1400" spc="-25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54A65-3661-494D-8254-C70FD24EC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87" y="479381"/>
            <a:ext cx="4005263" cy="20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46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0BF04F-F0CB-490A-87DB-39D60AC5B0F6}"/>
              </a:ext>
            </a:extLst>
          </p:cNvPr>
          <p:cNvSpPr/>
          <p:nvPr/>
        </p:nvSpPr>
        <p:spPr>
          <a:xfrm>
            <a:off x="131683" y="282704"/>
            <a:ext cx="2443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pipesdemo.component.ts</a:t>
            </a:r>
            <a:endParaRPr lang="en-US" sz="1400" spc="-1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A8C12-FD8D-4532-A2FE-04D52D9ED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19" y="610949"/>
            <a:ext cx="3200400" cy="201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47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2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" y="-635"/>
            <a:ext cx="5755419" cy="3240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" y="172085"/>
            <a:ext cx="4247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-10" dirty="0" err="1">
                <a:latin typeface="Verdana" panose="020B0604030504040204" pitchFamily="34" charset="0"/>
                <a:ea typeface="Verdana" panose="020B0604030504040204" pitchFamily="34" charset="0"/>
              </a:rPr>
              <a:t>app.module.ts</a:t>
            </a:r>
            <a:endParaRPr lang="en-US" sz="1400" spc="-1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D0A285-24FD-4BF2-909C-B649E9D40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63" y="477044"/>
            <a:ext cx="3180556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9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2998</Words>
  <Application>Microsoft Office PowerPoint</Application>
  <PresentationFormat>Custom</PresentationFormat>
  <Paragraphs>351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Consolas</vt:lpstr>
      <vt:lpstr>Courier New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Amit</dc:creator>
  <cp:lastModifiedBy>Anudip</cp:lastModifiedBy>
  <cp:revision>28</cp:revision>
  <dcterms:created xsi:type="dcterms:W3CDTF">2006-08-16T00:00:00Z</dcterms:created>
  <dcterms:modified xsi:type="dcterms:W3CDTF">2022-05-26T07:32:12Z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15DB675006AA433E961887A7ED475AA0</vt:lpwstr>
  </property>
  <property fmtid="{D5CDD505-2E9C-101B-9397-08002B2CF9AE}" pid="3" name="KSOProductBuildVer">
    <vt:lpwstr>1033-11.2.0.11130</vt:lpwstr>
  </property>
</Properties>
</file>